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48640"/>
            <a:ext cx="502920" cy="502920"/>
          </a:xfrm>
          <a:prstGeom prst="round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8EAF6"/>
                </a:solidFill>
              </a:defRPr>
            </a:pPr>
            <a: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E8EAF6"/>
                </a:solidFill>
                <a:latin typeface="Calibri"/>
              </a:defRPr>
            </a:pPr>
            <a:r>
              <a:t>Wipro Agentic Commerce Practice</a:t>
            </a:r>
          </a:p>
          <a:p>
            <a:pPr algn="l">
              <a:spcAft>
                <a:spcPts val="1600"/>
              </a:spcAft>
              <a:defRPr sz="1800" b="0">
                <a:solidFill>
                  <a:srgbClr val="9FA8DA"/>
                </a:solidFill>
                <a:latin typeface="Calibri"/>
              </a:defRPr>
            </a:pPr>
            <a:r>
              <a:t>Helping Retail &amp; CPG Clients Sell Through AI Shopping Assistants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4A8"/>
                </a:solidFill>
                <a:latin typeface="Calibri"/>
              </a:defRPr>
            </a:pPr>
            <a:r>
              <a:t>Leadership Briefing  |  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Shopping Is Moving Inside AI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In Jan-Feb 2026, Google, OpenAI, and Microsoft each launched ways for customers to buy products directly through AI — without visiting a website.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52044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E8EAF6"/>
                </a:solidFill>
                <a:latin typeface="Calibri"/>
              </a:defRPr>
            </a:pPr>
            <a:r>
              <a:t>Google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E3000F"/>
                </a:solidFill>
                <a:latin typeface="Calibri"/>
              </a:defRPr>
            </a:pPr>
            <a:r>
              <a:t>Jan 2026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Customers can now buy products directly inside Google Search and the Gemini app by talking to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52044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E8EAF6"/>
                </a:solidFill>
                <a:latin typeface="Calibri"/>
              </a:defRPr>
            </a:pPr>
            <a:r>
              <a:t>OpenAI / ChatGPT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42A5F5"/>
                </a:solidFill>
                <a:latin typeface="Calibri"/>
              </a:defRPr>
            </a:pPr>
            <a:r>
              <a:t>Feb 2026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500M+ ChatGPT users can now say "buy me X" and purchase without leaving the conversation.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2011680"/>
            <a:ext cx="3520440" cy="17373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500" b="1">
                <a:solidFill>
                  <a:srgbClr val="E8EAF6"/>
                </a:solidFill>
                <a:latin typeface="Calibri"/>
              </a:defRPr>
            </a:pPr>
            <a:r>
              <a:t>Microsoft Copilot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7C4DFF"/>
                </a:solidFill>
                <a:latin typeface="Calibri"/>
              </a:defRPr>
            </a:pPr>
            <a:r>
              <a:t>Jan 2026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Shopping through Copilot built into Windows, Edge, and Office. Partnership with Shopify.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2336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754880"/>
                <a:gridCol w="475488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How Customers Shop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What Merchants Needed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2000s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Visit websites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 website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2010s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Use mobile apps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 mobile app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2020s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Search on Amazon, Flipkart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Marketplace presence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2026+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Tell AI: "Buy me a Dyson V15"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AI-compatible commerce connection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577840"/>
            <a:ext cx="10881360" cy="6400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300" b="1">
                <a:solidFill>
                  <a:srgbClr val="E8EAF6"/>
                </a:solidFill>
                <a:latin typeface="Calibri"/>
              </a:defRPr>
            </a:pPr>
            <a:r>
              <a:t>THE RISK: If our clients' stores aren't connected to these AI assistants, the AI will recommend and sell competitors' products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Why This Is a Major Opportunity for Wipro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Every Wipro retail &amp; CPG client needs this. No system integrator has a packaged solution yet. We can be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440680" cy="24688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E3000F"/>
                </a:solidFill>
                <a:latin typeface="Calibri"/>
              </a:defRPr>
            </a:pPr>
            <a:r>
              <a:t>WITHOUT Our Solution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Customer asks AI: "Buy me Dyson V15"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Dyson isn't connected. AI says: 'I found similar vacuums from Samsung and Shark.' — LOST SALE.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Customer asks AI: "Reorder my Nespresso pods"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Nestle isn't connected. AI redirects to Amazon — LOST MARGIN, LOST CUSTOMER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440680" cy="24688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4CAF50"/>
                </a:solidFill>
                <a:latin typeface="Calibri"/>
              </a:defRPr>
            </a:pPr>
            <a:r>
              <a:t>WITH Our Solution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Customer asks AI: "Buy me Dyson V15"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Dyson IS connected. AI shows V15, checkout in 30 seconds via Google Pay. DIRECT SALE, FULL MARGIN.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Customer asks AI: "Reorder my Nespresso pods"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Nestle IS connected. AI knows their account, reorders same pods. RECURRING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881360" cy="18288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500" b="1">
                <a:solidFill>
                  <a:srgbClr val="7C4DFF"/>
                </a:solidFill>
                <a:latin typeface="Calibri"/>
              </a:defRPr>
            </a:pPr>
            <a:r>
              <a:t>Why Wipro Is Perfectly Positioned</a:t>
            </a:r>
          </a:p>
          <a:p>
            <a:pPr>
              <a:spcAft>
                <a:spcPts val="3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We manage SAP Commerce for dozens of retail/CPG clients — we know their backends</a:t>
            </a:r>
          </a:p>
          <a:p>
            <a:pPr>
              <a:spcAft>
                <a:spcPts val="3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We manage Salesforce Commerce for another set — same solution works</a:t>
            </a:r>
          </a:p>
          <a:p>
            <a:pPr>
              <a:spcAft>
                <a:spcPts val="3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No SI has a packaged solution yet (Accenture, Infosys, TCS — none)</a:t>
            </a:r>
          </a:p>
          <a:p>
            <a:pPr>
              <a:spcAft>
                <a:spcPts val="300"/>
              </a:spcAft>
              <a:defRPr sz="1200">
                <a:solidFill>
                  <a:srgbClr val="9FA8DA"/>
                </a:solidFill>
                <a:latin typeface="Calibri"/>
              </a:defRPr>
            </a:pPr>
            <a:r>
              <a:t>We already have a working prototype — ready to demo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What We Build for 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A thin layer that connects the client's existing online store to AI shopping assistants. We don't change their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6858000" cy="20116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400" b="1">
                <a:solidFill>
                  <a:srgbClr val="4CAF50"/>
                </a:solidFill>
                <a:latin typeface="Calibri"/>
              </a:defRPr>
            </a:pPr>
            <a:r>
              <a:t>Simple Analogy: The Restaurant Tablet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FA8DA"/>
                </a:solidFill>
                <a:latin typeface="Calibri"/>
              </a:defRPr>
            </a:pPr>
            <a:r>
              <a:t>When a restaurant joins Uber Eats, DoorDash, and Zomato — they don't build 3 kitchens. They add ONE tablet that receives orders from ALL platforms and sends them to the same kitchen.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E8EAF6"/>
                </a:solidFill>
                <a:latin typeface="Calibri"/>
              </a:defRPr>
            </a:pPr>
            <a:r>
              <a:t>Our accelerator = the tablet.  Client's SAP = the kitchen.  Google/OpenAI/Microsoft = the delivery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657600" cy="201168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2A2F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E8EAF6"/>
                </a:solidFill>
                <a:latin typeface="Calibri"/>
              </a:defRPr>
            </a:pPr>
            <a:r>
              <a:t>How It Works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1. Customer talks to AI assistant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2. AI calls our layer (translates)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3. SAP processes the order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9FA8DA"/>
                </a:solidFill>
                <a:latin typeface="Calibri"/>
              </a:defRPr>
            </a:pPr>
            <a:r>
              <a:t>4. Customer gets the product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297680"/>
          <a:ext cx="108813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39496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Wipro Builds (thin layer)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We Do NOT Touch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API endpoints (the 'tablet')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Client's SAP Commerce configuration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Translate AI language to SAP language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Product catalog or pricing rules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Translate SAP responses back to AI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Discounts, promotions, or tax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Track shopping sessions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Inventory or warehouse systems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Handle account linking (OAuth2)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Payment processing (Google Pay handles this)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~500 lines of code. 5-6 endpoints.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Zero business logic changes. Zero risk.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Wipro's Role: End-to-End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We don't just build and hand over. We own the full lifecycle — from strategy to production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1. Assess &amp; Advise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Evaluate client's platform. Identify which AI platforms to prioritize. Recommend approach.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Consulting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201168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2. Build the Accelerator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Develop API layer using reusable templates. Configure for client's backend &amp; payment provider.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3. Deploy on Client's Cloud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Deploy on Azure/AWS/GCP — same cloud as their SAP. Private networking, API gateway, monitoring.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59" y="201168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4. Register with AI Platforms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Register on Google Merchant Center, OpenAI portal, publish MCP config. Portal registration, not coding.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5. Test with Real AI Agents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Automated Gemini/ChatGPT bots test the full flow: browse, cart, checkout, order tracking.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416052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6. Go Live &amp; Operate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Production with 99.9% SLA. 24/7 monitoring. Incident response. Client's products now buyable via AI.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6052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7. Maintain &amp; Evolve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Update accelerator when Google/OpenAI change protocols. Add new AI platforms as they emerge.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59" y="4160520"/>
            <a:ext cx="2697480" cy="19202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7C4DFF"/>
                </a:solidFill>
                <a:latin typeface="Calibri"/>
              </a:defRPr>
            </a:pPr>
            <a:r>
              <a:t>8. Analytics &amp; Insights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Dashboard: which AI drives most sales, conversion rates, popular products, failed checkouts.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74A8"/>
                </a:solidFill>
                <a:latin typeface="Calibri"/>
              </a:defRPr>
            </a:pPr>
            <a:r>
              <a:t>Value-Add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Deployment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Deployed on the client's own cloud. Client owns the infrastructure. Wipro builds, deploys, and manages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9377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If Client's SAP Is On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We Deploy On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Cloud Services We Use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Microsoft Azure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Azure (same subscription)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Azure Container Apps + API Management + Redis Cache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Amazon AWS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AWS (same account)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ECS Fargate + API Gateway + ElastiCache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GCP (same project)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Cloud Run + Apigee + Memorystore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BTP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BTP (same subaccount)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Kyma Runtime + SAP API Management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74A8"/>
                </a:solidFill>
                <a:latin typeface="Calibri"/>
              </a:defRPr>
            </a:pPr>
            <a:r>
              <a:t>If client already has MuleSoft, Boomi, or another integration platform — we use that instead. We adapt to the client's existing technology.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3566160" cy="23774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Wipro Delivers &amp; Manages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Build the accelerator layer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Deploy on client's cloud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Register with AI platforms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Operate with 99.9% SLA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Update when protocols change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Analytics dashboard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Security &amp; compliance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Test with AI agent simulators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389120"/>
            <a:ext cx="3566160" cy="23774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200" b="1">
                <a:solidFill>
                  <a:srgbClr val="4CAF50"/>
                </a:solidFill>
                <a:latin typeface="Calibri"/>
              </a:defRPr>
            </a:pPr>
            <a:r>
              <a:t>Client Provides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Cloud subscription access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Domain (agentic.client.com)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SAP Commerce API credentials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Google Merchant Center account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Payment provider accounts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Brand/product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389120"/>
            <a:ext cx="3566160" cy="23774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  <a:defRPr sz="1200" b="1">
                <a:solidFill>
                  <a:srgbClr val="42A5F5"/>
                </a:solidFill>
                <a:latin typeface="Calibri"/>
              </a:defRPr>
            </a:pPr>
            <a:r>
              <a:t>Already Exists (Untouched)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SAP Commerce Cloud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Product catalog &amp; pricing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Order &amp; fulfillment systems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Payment processing (Stripe/Adyen)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Customer CRM</a:t>
            </a:r>
          </a:p>
          <a:p>
            <a:pPr>
              <a:spcAft>
                <a:spcPts val="2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Existing website &amp; mobile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How We Win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Concrete plan to land the first client and scale to a Wipro practice.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486400" cy="32004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1400" b="1">
                <a:solidFill>
                  <a:srgbClr val="7C4DFF"/>
                </a:solidFill>
                <a:latin typeface="Calibri"/>
              </a:defRPr>
            </a:pPr>
            <a:r>
              <a:t>Land First Client (Next 30 Days)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Week 1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Polish prototype. Record 3-minute demo video of AI buying a product end-to-end.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Week 2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Identify 5 target clients from existing Wipro accounts (SAP Commerce, D2C, digital-forward CxO).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Week 3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Send 1-pager + demo video. Frame as competitive urgency. Request 30-min meeting.</a:t>
            </a:r>
          </a:p>
          <a:p>
            <a:pPr algn="l">
              <a:spcAft>
                <a:spcPts val="100"/>
              </a:spcAft>
              <a:defRPr sz="1100" b="1">
                <a:solidFill>
                  <a:srgbClr val="E8EAF6"/>
                </a:solidFill>
                <a:latin typeface="Calibri"/>
              </a:defRPr>
            </a:pPr>
            <a:r>
              <a:t>Week 4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FA8DA"/>
                </a:solidFill>
                <a:latin typeface="Calibri"/>
              </a:defRPr>
            </a:pPr>
            <a:r>
              <a:t>Live demo + this deck. Present timeline. Close first SOW.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011680"/>
            <a:ext cx="5029200" cy="320040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E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1400" b="1">
                <a:solidFill>
                  <a:srgbClr val="E3000F"/>
                </a:solidFill>
                <a:latin typeface="Calibri"/>
              </a:defRPr>
            </a:pPr>
            <a:r>
              <a:t>What Clinches the Deal</a:t>
            </a:r>
          </a:p>
          <a:p>
            <a:pPr>
              <a:spcAft>
                <a:spcPts val="500"/>
              </a:spcAft>
              <a:defRPr sz="1100">
                <a:solidFill>
                  <a:srgbClr val="9FA8DA"/>
                </a:solidFill>
                <a:latin typeface="Calibri"/>
              </a:defRPr>
            </a:pPr>
            <a:r>
              <a:t>Live demo — 'Look, Gemini is buying your product right now'</a:t>
            </a:r>
          </a:p>
          <a:p>
            <a:pPr>
              <a:spcAft>
                <a:spcPts val="500"/>
              </a:spcAft>
              <a:defRPr sz="1100">
                <a:solidFill>
                  <a:srgbClr val="9FA8DA"/>
                </a:solidFill>
                <a:latin typeface="Calibri"/>
              </a:defRPr>
            </a:pPr>
            <a:r>
              <a:t>Competitive fear — 'Samsung already supports this'</a:t>
            </a:r>
          </a:p>
          <a:p>
            <a:pPr>
              <a:spcAft>
                <a:spcPts val="500"/>
              </a:spcAft>
              <a:defRPr sz="1100">
                <a:solidFill>
                  <a:srgbClr val="9FA8DA"/>
                </a:solidFill>
                <a:latin typeface="Calibri"/>
              </a:defRPr>
            </a:pPr>
            <a:r>
              <a:t>Low risk — 'We don't touch your SAP. Minimal infra cost.'</a:t>
            </a:r>
          </a:p>
          <a:p>
            <a:pPr>
              <a:spcAft>
                <a:spcPts val="500"/>
              </a:spcAft>
              <a:defRPr sz="1100">
                <a:solidFill>
                  <a:srgbClr val="9FA8DA"/>
                </a:solidFill>
                <a:latin typeface="Calibri"/>
              </a:defRPr>
            </a:pPr>
            <a:r>
              <a:t>Fast delivery — '10 weeks to production'</a:t>
            </a:r>
          </a:p>
          <a:p>
            <a:pPr>
              <a:spcAft>
                <a:spcPts val="500"/>
              </a:spcAft>
              <a:defRPr sz="1100">
                <a:solidFill>
                  <a:srgbClr val="9FA8DA"/>
                </a:solidFill>
                <a:latin typeface="Calibri"/>
              </a:defRPr>
            </a:pPr>
            <a:r>
              <a:t>Working prototype — 'We're not selling PowerPoint'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5440680" cy="12801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Phase 2: Scale (6-12 Months)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Sell to 5-10 more retail/CPG clients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Build connector library (SAP, SFCC, Shopify, Magento)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Case study + webinar from first client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Cross-sell to every Wipro retail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486400"/>
            <a:ext cx="5440680" cy="128016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7C4DFF"/>
                </a:solidFill>
                <a:latin typeface="Calibri"/>
              </a:defRPr>
            </a:pPr>
            <a:r>
              <a:t>Phase 3: Practice (12-24 Months)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Dedicated team &amp; P&amp;L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IP: accelerator kit, connectors, test suites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Partnerships with Google, Shopify, Stripe</a:t>
            </a:r>
          </a:p>
          <a:p>
            <a:pPr>
              <a:spcAft>
                <a:spcPts val="100"/>
              </a:spcAft>
              <a:defRPr sz="1000">
                <a:solidFill>
                  <a:srgbClr val="9FA8DA"/>
                </a:solidFill>
                <a:latin typeface="Calibri"/>
              </a:defRPr>
            </a:pPr>
            <a:r>
              <a:t>NRF / Shoptalk presentations. Analyst briefings.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Competitive Landscape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No SI has a packaged agentic commerce offering. First-mover advantage is real.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48056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Their Position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Wipro's Advantage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Accenture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No known agentic commerce offering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We have a working prototype. First-mover.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Infosys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No known offering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We have SAP Commerce expertise + demo ready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TCS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No known offering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We move faster. 10 weeks vs their 6-month cycles.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Shopify (native)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Building native UCP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Only helps Shopify clients. SAP/SFCC clients need us.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SAP (native)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Roadmap: 12-18 months out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Clients need it NOW. We bridge the gap.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06240"/>
            <a:ext cx="10881360" cy="2377440"/>
          </a:xfrm>
          <a:prstGeom prst="roundRect">
            <a:avLst/>
          </a:prstGeom>
          <a:solidFill>
            <a:srgbClr val="1A1F36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  <a:defRPr sz="1600" b="1">
                <a:solidFill>
                  <a:srgbClr val="7C4DFF"/>
                </a:solidFill>
                <a:latin typeface="Calibri"/>
              </a:defRPr>
            </a:pPr>
            <a:r>
              <a:t>Next Steps — What We Need from Leadership</a:t>
            </a:r>
          </a:p>
          <a:p>
            <a:pPr>
              <a:spcAft>
                <a:spcPts val="500"/>
              </a:spcAft>
              <a:defRPr sz="1300">
                <a:solidFill>
                  <a:srgbClr val="9FA8DA"/>
                </a:solidFill>
                <a:latin typeface="Calibri"/>
              </a:defRPr>
            </a:pPr>
            <a:r>
              <a:t>Approve investment: 2-3 developers for 10 weeks (existing resources, no new hires)</a:t>
            </a:r>
          </a:p>
          <a:p>
            <a:pPr>
              <a:spcAft>
                <a:spcPts val="500"/>
              </a:spcAft>
              <a:defRPr sz="1300">
                <a:solidFill>
                  <a:srgbClr val="9FA8DA"/>
                </a:solidFill>
                <a:latin typeface="Calibri"/>
              </a:defRPr>
            </a:pPr>
            <a:r>
              <a:t>Identify first client: Dyson, or similar SAP Commerce client in our portfolio</a:t>
            </a:r>
          </a:p>
          <a:p>
            <a:pPr>
              <a:spcAft>
                <a:spcPts val="500"/>
              </a:spcAft>
              <a:defRPr sz="1300">
                <a:solidFill>
                  <a:srgbClr val="9FA8DA"/>
                </a:solidFill>
                <a:latin typeface="Calibri"/>
              </a:defRPr>
            </a:pPr>
            <a:r>
              <a:t>Demo to client: Within 2 weeks (prototype is ready)</a:t>
            </a:r>
          </a:p>
          <a:p>
            <a:pPr>
              <a:spcAft>
                <a:spcPts val="500"/>
              </a:spcAft>
              <a:defRPr sz="1300">
                <a:solidFill>
                  <a:srgbClr val="9FA8DA"/>
                </a:solidFill>
                <a:latin typeface="Calibri"/>
              </a:defRPr>
            </a:pPr>
            <a:r>
              <a:t>First SOW signed: Target within 30 days</a:t>
            </a:r>
          </a:p>
          <a:p>
            <a:pPr>
              <a:spcAft>
                <a:spcPts val="500"/>
              </a:spcAft>
              <a:defRPr sz="1300">
                <a:solidFill>
                  <a:srgbClr val="9FA8DA"/>
                </a:solidFill>
                <a:latin typeface="Calibri"/>
              </a:defRPr>
            </a:pPr>
            <a:r>
              <a:t>First client live: 10 weeks after SOW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6675120"/>
            <a:ext cx="7589520" cy="9144"/>
          </a:xfrm>
          <a:prstGeom prst="round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7C4DFF"/>
                </a:solidFill>
                <a:latin typeface="Calibri"/>
              </a:defRPr>
            </a:pPr>
            <a:r>
              <a:t>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E8EAF6"/>
                </a:solidFill>
                <a:latin typeface="Calibri"/>
              </a:defRPr>
            </a:pPr>
            <a:r>
              <a:t>Anticipated Leadership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74A8"/>
                </a:solidFill>
                <a:latin typeface="Calibri"/>
              </a:defRPr>
            </a:pPr>
            <a:r>
              <a:t>Prepared answers to the questions that will come up.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Market &amp; Strategy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Is this a real trend or hype?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Google, OpenAI, Microsoft all launched within weeks. Walmart, Visa, Mastercard backing it. This is real.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Will one protocol win?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Too early. Our approach is protocol-agnostic — we support all. Like building a website that works on all browsers.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What if this doesn't take off?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Low risk. 2-3 developers for 10 weeks. If it works, we have a practice. If not, skills transfer elsewhere.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Why would clients pay us vs DIY?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Same reason they pay us for SAP. Protocol knowledge + pre-built templates save months. 10 weeks vs 6+ months internal.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114800"/>
          <a:ext cx="10881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Technical (Simplified)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74A8"/>
                          </a:solidFill>
                          <a:latin typeface="Calibri"/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Do we integrate with each AI separately?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No. We expose endpoints, they call us. We register on portals (form filling). Code is 90% shared.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Is this secure?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Payment NEVER touches our layer. Google Pay/Stripe handle it. No credit cards, no PII stored.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Do we change anything in SAP?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Zero changes. We only call existing REST APIs. No config, no logic, no data changes.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Why not MuleSoft?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FA8DA"/>
                          </a:solidFill>
                          <a:latin typeface="Calibri"/>
                        </a:defRPr>
                      </a:pPr>
                      <a:r>
                        <a:t>If client has it, we use it. Otherwise $100K/yr license for 5 endpoints is overkill.</a:t>
                      </a:r>
                    </a:p>
                  </a:txBody>
                  <a:tcPr>
                    <a:solidFill>
                      <a:srgbClr val="0F12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