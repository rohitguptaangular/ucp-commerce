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48640"/>
            <a:ext cx="502920" cy="502920"/>
          </a:xfrm>
          <a:prstGeom prst="round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EAF6"/>
                </a:solidFill>
              </a:defRPr>
            </a:pPr>
            <a: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E8EAF6"/>
                </a:solidFill>
                <a:latin typeface="Calibri"/>
              </a:defRPr>
            </a:pPr>
            <a:r>
              <a:t>Wipro Agentic Commerce Accelerator</a:t>
            </a:r>
          </a:p>
          <a:p>
            <a:pPr algn="l">
              <a:spcAft>
                <a:spcPts val="1600"/>
              </a:spcAft>
              <a:defRPr sz="1800" b="0">
                <a:solidFill>
                  <a:srgbClr val="9FA8DA"/>
                </a:solidFill>
                <a:latin typeface="Calibri"/>
              </a:defRPr>
            </a:pPr>
            <a:r>
              <a:t>Connecting Enterprise Commerce Platforms to AI Shopping Agents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4A8"/>
                </a:solidFill>
                <a:latin typeface="Calibri"/>
              </a:defRPr>
            </a:pPr>
            <a:r>
              <a:t>Technical Architecture &amp; Solution Overview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The Opportunity: AI Is the New Storefront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Google, OpenAI, and Microsoft launched AI shopping protocols in Jan-Feb 2026. Merchants who aren't connected are invisible.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74720" cy="1828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E8EAF6"/>
                </a:solidFill>
                <a:latin typeface="Calibri"/>
              </a:defRPr>
            </a:pPr>
            <a:r>
              <a:t>Google UCP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E3000F"/>
                </a:solidFill>
                <a:latin typeface="Calibri"/>
              </a:defRPr>
            </a:pPr>
            <a:r>
              <a:t>Jan 2026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Universal Commerce Protocol. Buy directly inside Gemini &amp; Google Search AI Mode. Payment via Google Pay.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474720" cy="1828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E8EAF6"/>
                </a:solidFill>
                <a:latin typeface="Calibri"/>
              </a:defRPr>
            </a:pPr>
            <a:r>
              <a:t>OpenAI ACP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42A5F5"/>
                </a:solidFill>
                <a:latin typeface="Calibri"/>
              </a:defRPr>
            </a:pPr>
            <a:r>
              <a:t>Feb 2026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"Buy it in ChatGPT" with Stripe. 500M+ ChatGPT users can purchase without leaving the conversation.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2103120"/>
            <a:ext cx="3474720" cy="1828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E8EAF6"/>
                </a:solidFill>
                <a:latin typeface="Calibri"/>
              </a:defRPr>
            </a:pPr>
            <a:r>
              <a:t>Microsoft Copilot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7C4DFF"/>
                </a:solidFill>
                <a:latin typeface="Calibri"/>
              </a:defRPr>
            </a:pPr>
            <a:r>
              <a:t>Jan 2026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Copilot Checkout with Shopify. Shopping through Copilot integrated into Windows, Edge, Office.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10881360" cy="73152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300" b="1">
                <a:solidFill>
                  <a:srgbClr val="E8EAF6"/>
                </a:solidFill>
                <a:latin typeface="Calibri"/>
              </a:defRPr>
            </a:pPr>
            <a:r>
              <a:t>When a customer asks AI to buy a product, AI only shows merchants who are connected. If our clients aren't connected, AI recommends competitors instead.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512064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49377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How Customers Shop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What Merchants Need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2000s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Type URLs in browser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 website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2010s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Tap apps on phone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 mobile app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2020s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Search on marketplaces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Marketplace presence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2026+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Talk to AI assistants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AI-compatible commerce APIs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What Wipro Builds: A Thin Translation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Not middleware. Not a platform. A lightweight API that makes existing e-commerce stores visible to AI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4114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2A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</a:pPr>
          </a:p>
          <a:p>
            <a:pPr>
              <a:spcAft>
                <a:spcPts val="100"/>
              </a:spcAft>
              <a:defRPr sz="1100">
                <a:solidFill>
                  <a:srgbClr val="42A5F5"/>
                </a:solidFill>
                <a:latin typeface="Courier New"/>
              </a:defRPr>
            </a:pPr>
            <a:r>
              <a:t>Google Gemini  /  ChatGPT  /  Microsoft Copilot</a:t>
            </a:r>
          </a:p>
          <a:p>
            <a:pPr>
              <a:spcAft>
                <a:spcPts val="100"/>
              </a:spcAft>
              <a:defRPr sz="1100">
                <a:solidFill>
                  <a:srgbClr val="6B74A8"/>
                </a:solidFill>
                <a:latin typeface="Courier New"/>
              </a:defRPr>
            </a:pPr>
            <a:r>
              <a:t>        |                    |                    |</a:t>
            </a:r>
          </a:p>
          <a:p>
            <a:pPr>
              <a:spcAft>
                <a:spcPts val="100"/>
              </a:spcAft>
              <a:defRPr sz="1100">
                <a:solidFill>
                  <a:srgbClr val="6B74A8"/>
                </a:solidFill>
                <a:latin typeface="Courier New"/>
              </a:defRPr>
            </a:pPr>
            <a:r>
              <a:t>        |  (they call us)    |  (they call us)    |  (they call us)</a:t>
            </a:r>
          </a:p>
          <a:p>
            <a:pPr>
              <a:spcAft>
                <a:spcPts val="100"/>
              </a:spcAft>
              <a:defRPr sz="1100">
                <a:solidFill>
                  <a:srgbClr val="6B74A8"/>
                </a:solidFill>
                <a:latin typeface="Courier New"/>
              </a:defRPr>
            </a:pPr>
            <a:r>
              <a:t>        v                    v                    v</a:t>
            </a:r>
          </a:p>
          <a:p>
            <a:pPr>
              <a:spcAft>
                <a:spcPts val="100"/>
              </a:spcAft>
              <a:defRPr sz="1100">
                <a:solidFill>
                  <a:srgbClr val="E8EAF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7C4DFF"/>
                </a:solidFill>
                <a:latin typeface="Courier New"/>
              </a:defRPr>
            </a:pPr>
            <a:r>
              <a:t>   WIPRO ACCELERATOR  (hosted on client's cloud)</a:t>
            </a:r>
          </a:p>
          <a:p>
            <a:pPr>
              <a:spcAft>
                <a:spcPts val="100"/>
              </a:spcAft>
              <a:defRPr sz="1100">
                <a:solidFill>
                  <a:srgbClr val="E8EAF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7C4DFF"/>
                </a:solidFill>
                <a:latin typeface="Courier New"/>
              </a:defRPr>
            </a:pPr>
            <a:r>
              <a:t>   Receives request  -&gt;  Translates fields  -&gt;  Calls SAP</a:t>
            </a:r>
          </a:p>
          <a:p>
            <a:pPr>
              <a:spcAft>
                <a:spcPts val="100"/>
              </a:spcAft>
              <a:defRPr sz="1100">
                <a:solidFill>
                  <a:srgbClr val="7C4DFF"/>
                </a:solidFill>
                <a:latin typeface="Courier New"/>
              </a:defRPr>
            </a:pPr>
            <a:r>
              <a:t>   Gets SAP response -&gt;  Translates back    -&gt;  Returns to AI</a:t>
            </a:r>
          </a:p>
          <a:p>
            <a:pPr>
              <a:spcAft>
                <a:spcPts val="100"/>
              </a:spcAft>
              <a:defRPr sz="1100">
                <a:solidFill>
                  <a:srgbClr val="E8EAF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7C4DFF"/>
                </a:solidFill>
                <a:latin typeface="Courier New"/>
              </a:defRPr>
            </a:pPr>
            <a:r>
              <a:t>   No business logic. No pricing. No decisions.</a:t>
            </a:r>
          </a:p>
          <a:p>
            <a:pPr>
              <a:spcAft>
                <a:spcPts val="100"/>
              </a:spcAft>
              <a:defRPr sz="1100">
                <a:solidFill>
                  <a:srgbClr val="7C4DFF"/>
                </a:solidFill>
                <a:latin typeface="Courier New"/>
              </a:defRPr>
            </a:pPr>
            <a:r>
              <a:t>   ~500 lines of code. 5-6 endpoints.</a:t>
            </a:r>
          </a:p>
          <a:p>
            <a:pPr>
              <a:spcAft>
                <a:spcPts val="100"/>
              </a:spcAft>
              <a:defRPr sz="1100">
                <a:solidFill>
                  <a:srgbClr val="E8EAF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6B74A8"/>
                </a:solidFill>
                <a:latin typeface="Courier New"/>
              </a:defRPr>
            </a:pPr>
            <a:r>
              <a:t>        |  (calls existing SAP REST APIs)</a:t>
            </a:r>
          </a:p>
          <a:p>
            <a:pPr>
              <a:spcAft>
                <a:spcPts val="100"/>
              </a:spcAft>
              <a:defRPr sz="1100">
                <a:solidFill>
                  <a:srgbClr val="6B74A8"/>
                </a:solidFill>
                <a:latin typeface="Courier New"/>
              </a:defRPr>
            </a:pPr>
            <a:r>
              <a:t>        v</a:t>
            </a:r>
          </a:p>
          <a:p>
            <a:pPr>
              <a:spcAft>
                <a:spcPts val="100"/>
              </a:spcAft>
              <a:defRPr sz="1100">
                <a:solidFill>
                  <a:srgbClr val="E8EAF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4CAF50"/>
                </a:solidFill>
                <a:latin typeface="Courier New"/>
              </a:defRPr>
            </a:pPr>
            <a:r>
              <a:t>   CLIENT'S SAP COMMERCE CLOUD  (completely untouched)</a:t>
            </a:r>
          </a:p>
          <a:p>
            <a:pPr>
              <a:spcAft>
                <a:spcPts val="100"/>
              </a:spcAft>
              <a:defRPr sz="1100">
                <a:solidFill>
                  <a:srgbClr val="4CAF50"/>
                </a:solidFill>
                <a:latin typeface="Courier New"/>
              </a:defRPr>
            </a:pPr>
            <a:r>
              <a:t>   Pricing, inventory, promotions, tax, shipping, fulfillment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What the Accelerator Does vs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Zero risk to the client's existing commerce platform. We only translate and forward.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12080" cy="4114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600" b="1">
                <a:solidFill>
                  <a:srgbClr val="4CAF50"/>
                </a:solidFill>
                <a:latin typeface="Calibri"/>
              </a:defRPr>
            </a:pPr>
            <a:r>
              <a:t>What It DOES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Expose UCP / ACP / MCP API endpoints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Translate field names between AI platforms and SAP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Route requests to SAP OCC REST APIs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Track shopping session-to-cart mapping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Handle customer account linking (OAuth2)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Return responses in each AI platform's expected format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212080" cy="4114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600" b="1">
                <a:solidFill>
                  <a:srgbClr val="E3000F"/>
                </a:solidFill>
                <a:latin typeface="Calibri"/>
              </a:defRPr>
            </a:pPr>
            <a:r>
              <a:t>What It Does NOT Do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Calculate pricing (SAP does this)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Apply discounts or promotions (SAP does this)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Validate inventory or stock (SAP does this)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Determine shipping costs (SAP does this)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Store customer or payment data</a:t>
            </a:r>
          </a:p>
          <a:p>
            <a:pPr>
              <a:spcAft>
                <a:spcPts val="4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Make any business decisions whatsoever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Wipro's Role &amp; Reusable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What Wipro owns, delivers, and reuses across every client engagement.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1. Build the Accelerator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Develop the thin API layer using reusable templates. ~500 lines of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201168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2. Maintain Protocol Compliance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Update specs as Google/OpenAI change protocols. ~0.5 FTE ongoing.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3. Deploy on Client's Cloud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Same cloud as their SAP (Azure/AWS/GCP). Private networking. ~$1K/mo.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59" y="201168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4. Register with AI Platforms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Google Merchant Center, OpenAI portal, MCP config. Form filling.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5. Test with AI Simulators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Automated Gemini/ChatGPT bots test the full shopping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402336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6. Operate (99.9% SLA)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24/7 monitoring, alerting, incident response. Production-grade.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7. Analytics Dashboard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Which AI drives traffic, conversion rates, popular products via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59" y="4023360"/>
            <a:ext cx="269748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8. Scale to New Clients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Same kit, new config. Each new client = faster and cheaper.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The Accelerator Kit (Wipro's Reusable 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Built once, reused for every client. The knowledge compounds with each engagement.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56616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7C4DFF"/>
                </a:solidFill>
                <a:latin typeface="Calibri"/>
              </a:defRPr>
            </a:pPr>
            <a:r>
              <a:t>1. API Specifications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OpenAPI definitions for UCP, ACP, MCP. Maintained as protocols evolve. Client doesn't read 200-page specs.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56616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7C4DFF"/>
                </a:solidFill>
                <a:latin typeface="Calibri"/>
              </a:defRPr>
            </a:pPr>
            <a:r>
              <a:t>2. Canonical Data Model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Standardized internal field names between all protocols and backends. Add new protocol = +1 mapping, not 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56616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7C4DFF"/>
                </a:solidFill>
                <a:latin typeface="Calibri"/>
              </a:defRPr>
            </a:pPr>
            <a:r>
              <a:t>3. Mapping Sheets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Field-by-field transformation rules. The core IP. 'city' vs 'town' vs 'locality' solved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356616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7C4DFF"/>
                </a:solidFill>
                <a:latin typeface="Calibri"/>
              </a:defRPr>
            </a:pPr>
            <a:r>
              <a:t>4. Flow Templates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Orchestration blueprints: create cart &gt; add items &gt; address &gt; checkout. Platform-agnostic.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206240"/>
            <a:ext cx="356616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7C4DFF"/>
                </a:solidFill>
                <a:latin typeface="Calibri"/>
              </a:defRPr>
            </a:pPr>
            <a:r>
              <a:t>5. Config Templates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Discovery profile generator, deployment manifests. New client = fill config, deploy.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06240"/>
            <a:ext cx="356616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7C4DFF"/>
                </a:solidFill>
                <a:latin typeface="Calibri"/>
              </a:defRPr>
            </a:pPr>
            <a:r>
              <a:t>6. Test Suite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Protocol compliance tests + AI agent simulator. Validate end-to-end in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2697480" cy="10972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2A5F5"/>
                </a:solidFill>
              </a:defRPr>
            </a:pPr>
            <a:r>
              <a:t>4 weeks</a:t>
            </a:r>
          </a:p>
          <a:p>
            <a:pPr algn="ctr">
              <a:spcAft>
                <a:spcPts val="100"/>
              </a:spcAft>
              <a:defRPr sz="1000" b="1">
                <a:solidFill>
                  <a:srgbClr val="E8EAF6"/>
                </a:solidFill>
                <a:latin typeface="Calibri"/>
              </a:defRPr>
            </a:pPr>
            <a:r>
              <a:t>Client 1 (SAP)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6B74A8"/>
                </a:solidFill>
                <a:latin typeface="Calibri"/>
              </a:defRPr>
            </a:pPr>
            <a:r>
              <a:t>Build from scratch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4572000"/>
            <a:ext cx="2697480" cy="10972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2A5F5"/>
                </a:solidFill>
              </a:defRPr>
            </a:pPr>
            <a:r>
              <a:t>2-3 weeks</a:t>
            </a:r>
          </a:p>
          <a:p>
            <a:pPr algn="ctr">
              <a:spcAft>
                <a:spcPts val="100"/>
              </a:spcAft>
              <a:defRPr sz="1000" b="1">
                <a:solidFill>
                  <a:srgbClr val="E8EAF6"/>
                </a:solidFill>
                <a:latin typeface="Calibri"/>
              </a:defRPr>
            </a:pPr>
            <a:r>
              <a:t>Client 2 (SFCC)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6B74A8"/>
                </a:solidFill>
                <a:latin typeface="Calibri"/>
              </a:defRPr>
            </a:pPr>
            <a:r>
              <a:t>New backend connector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2697480" cy="10972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1-2 weeks</a:t>
            </a:r>
          </a:p>
          <a:p>
            <a:pPr algn="ctr">
              <a:spcAft>
                <a:spcPts val="100"/>
              </a:spcAft>
              <a:defRPr sz="1000" b="1">
                <a:solidFill>
                  <a:srgbClr val="E8EAF6"/>
                </a:solidFill>
                <a:latin typeface="Calibri"/>
              </a:defRPr>
            </a:pPr>
            <a:r>
              <a:t>Client 3 (SAP)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6B74A8"/>
                </a:solidFill>
                <a:latin typeface="Calibri"/>
              </a:defRPr>
            </a:pPr>
            <a:r>
              <a:t>Config change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4572000"/>
            <a:ext cx="2697480" cy="10972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1-2 weeks</a:t>
            </a:r>
          </a:p>
          <a:p>
            <a:pPr algn="ctr">
              <a:spcAft>
                <a:spcPts val="100"/>
              </a:spcAft>
              <a:defRPr sz="1000" b="1">
                <a:solidFill>
                  <a:srgbClr val="E8EAF6"/>
                </a:solidFill>
                <a:latin typeface="Calibri"/>
              </a:defRPr>
            </a:pPr>
            <a:r>
              <a:t>Client 4+ (Any)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6B74A8"/>
                </a:solidFill>
                <a:latin typeface="Calibri"/>
              </a:defRPr>
            </a:pPr>
            <a:r>
              <a:t>Config change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Deployment: Where &amp;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Deployed on the client's own cloud, same network as their SAP Commerce.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4805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If Client's SAP Is On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We Deploy On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Cloud Services Used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Microsoft Azure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Azure (same subscription)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Container Apps + API Mgmt + Redis Cache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Amazon AWS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AWS (same account)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ECS Fargate + API Gateway + ElastiCache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GCP (same project)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Cloud Run + Apigee + Memorystore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BTP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BTP (same subaccount)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Kyma Runtime + SAP API Management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657600"/>
          <a:ext cx="108813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56616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Wipro Delivers &amp; Manages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Client Provides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Already Exists (Untouched)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Build the accelerator layer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Cloud subscription access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Commerce Cloud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Deploy on client's cloud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Domain (agentic.client.com)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Product catalog &amp; pricing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Register with AI platforms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API credentials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Order &amp; fulfillment systems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Operate with 99.9% SLA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Google Merchant Center acct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Payment processing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Update when protocols change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Payment provider accounts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Customer CRM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Analytics dashboard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Brand/product information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Existing website &amp; app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Anticipated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Answers to the questions leadership will ask.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237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Do we integrate with each AI platform?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No. We expose endpoints, they call us. We register on each portal (form filling, not coding).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Do we change anything in SAP?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Zero changes. We only call existing SAP REST APIs. No config, no logic, no data changes.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Is this secure?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Payment NEVER touches our layer. Google Pay/Stripe handle it tokenized. No PII stored.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Can't SAP build this natively?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They will — in 12-18 months. Clients need it NOW. We bridge the gap.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Why not MuleSoft?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If client has it, we use it. Otherwise, $100K/yr license for 5 endpoints is overkill.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What if protocols change?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That's the maintenance retainer. We update mappings &amp; endpoints. ~0.5 FTE ongoing.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What's Wipro's IP?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API specs, canonical data model, mapping sheets, flow templates, test suites. Reusable.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What if client uses Shopify?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Shopify is building native UCP. Our sweet spot: SAP &amp; Salesforce Commerce clients.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