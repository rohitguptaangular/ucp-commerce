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64240" y="228600"/>
            <a:ext cx="457200" cy="457200"/>
          </a:xfrm>
          <a:prstGeom prst="roundRect">
            <a:avLst/>
          </a:prstGeom>
          <a:solidFill>
            <a:srgbClr val="5A2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A1A2E"/>
                </a:solidFill>
                <a:latin typeface="Calibri"/>
              </a:defRPr>
            </a:pPr>
            <a:r>
              <a:t>What Is Universal Commerce Protocol (UCP)?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888"/>
                </a:solidFill>
                <a:latin typeface="Calibri"/>
              </a:defRPr>
            </a:pPr>
            <a:r>
              <a:t>An open standard launched by Google (Jan 2026) that lets AI agents shop on behalf of users — browse, cart, checkout, track — all via conversation.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5A2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394960" cy="182880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D3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The AI Commerce Wave (Jan-Feb 2026)</a:t>
            </a:r>
          </a:p>
          <a:p>
            <a:pPr>
              <a:spcAft>
                <a:spcPts val="0"/>
              </a:spcAft>
              <a:defRPr sz="1000" b="1">
                <a:solidFill>
                  <a:srgbClr val="D3000F"/>
                </a:solidFill>
                <a:latin typeface="Calibri"/>
              </a:defRPr>
            </a:pPr>
            <a:r>
              <a:t>Google — Universal Commerce Protocol (UCP)</a:t>
            </a:r>
          </a:p>
          <a:p>
            <a:pPr>
              <a:spcAft>
                <a:spcPts val="500"/>
              </a:spcAft>
              <a:defRPr sz="900" b="0">
                <a:solidFill>
                  <a:srgbClr val="4A4A5A"/>
                </a:solidFill>
                <a:latin typeface="Calibri"/>
              </a:defRPr>
            </a:pPr>
            <a:r>
              <a:t>Buy inside Gemini &amp; Google Search via Google Pay</a:t>
            </a:r>
          </a:p>
          <a:p>
            <a:pPr>
              <a:spcAft>
                <a:spcPts val="0"/>
              </a:spcAft>
              <a:defRPr sz="1000" b="1">
                <a:solidFill>
                  <a:srgbClr val="1E88E5"/>
                </a:solidFill>
                <a:latin typeface="Calibri"/>
              </a:defRPr>
            </a:pPr>
            <a:r>
              <a:t>OpenAI — Agent Commerce Protocol (ACP)</a:t>
            </a:r>
          </a:p>
          <a:p>
            <a:pPr>
              <a:spcAft>
                <a:spcPts val="500"/>
              </a:spcAft>
              <a:defRPr sz="900" b="0">
                <a:solidFill>
                  <a:srgbClr val="4A4A5A"/>
                </a:solidFill>
                <a:latin typeface="Calibri"/>
              </a:defRPr>
            </a:pPr>
            <a:r>
              <a:t>"Buy it in ChatGPT" with Stripe — 500M+ users</a:t>
            </a:r>
          </a:p>
          <a:p>
            <a:pPr>
              <a:spcAft>
                <a:spcPts val="0"/>
              </a:spcAft>
              <a:defRPr sz="1000" b="1">
                <a:solidFill>
                  <a:srgbClr val="6B3FD4"/>
                </a:solidFill>
                <a:latin typeface="Calibri"/>
              </a:defRPr>
            </a:pPr>
            <a:r>
              <a:t>Microsoft — Copilot Checkout</a:t>
            </a:r>
          </a:p>
          <a:p>
            <a:pPr>
              <a:spcAft>
                <a:spcPts val="500"/>
              </a:spcAft>
              <a:defRPr sz="900" b="0">
                <a:solidFill>
                  <a:srgbClr val="4A4A5A"/>
                </a:solidFill>
                <a:latin typeface="Calibri"/>
              </a:defRPr>
            </a:pPr>
            <a:r>
              <a:t>Shopping inside Windows/Edge/Office via Shopify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394960" cy="182880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6B3FD4"/>
                </a:solidFill>
                <a:latin typeface="Calibri"/>
              </a:defRPr>
            </a:pPr>
            <a:r>
              <a:t>How UCP Works</a:t>
            </a:r>
          </a:p>
          <a:p>
            <a:pPr>
              <a:spcAft>
                <a:spcPts val="200"/>
              </a:spcAft>
              <a:defRPr sz="900" b="0">
                <a:solidFill>
                  <a:srgbClr val="4A4A5A"/>
                </a:solidFill>
                <a:latin typeface="Calibri"/>
              </a:defRPr>
            </a:pPr>
            <a:r>
              <a:t>1.  Merchant exposes a few REST endpoints (cart, checkout)</a:t>
            </a:r>
          </a:p>
          <a:p>
            <a:pPr>
              <a:spcAft>
                <a:spcPts val="200"/>
              </a:spcAft>
              <a:defRPr sz="900" b="0">
                <a:solidFill>
                  <a:srgbClr val="4A4A5A"/>
                </a:solidFill>
                <a:latin typeface="Calibri"/>
              </a:defRPr>
            </a:pPr>
            <a:r>
              <a:t>2.  Publishes a discovery profile at /.well-known/ucp</a:t>
            </a:r>
          </a:p>
          <a:p>
            <a:pPr>
              <a:spcAft>
                <a:spcPts val="200"/>
              </a:spcAft>
              <a:defRPr sz="900" b="0">
                <a:solidFill>
                  <a:srgbClr val="4A4A5A"/>
                </a:solidFill>
                <a:latin typeface="Calibri"/>
              </a:defRPr>
            </a:pPr>
            <a:r>
              <a:t>3.  AI platforms (Gemini, ChatGPT) discover &amp; call these endpoints</a:t>
            </a:r>
          </a:p>
          <a:p>
            <a:pPr>
              <a:spcAft>
                <a:spcPts val="200"/>
              </a:spcAft>
              <a:defRPr sz="900" b="0">
                <a:solidFill>
                  <a:srgbClr val="4A4A5A"/>
                </a:solidFill>
                <a:latin typeface="Calibri"/>
              </a:defRPr>
            </a:pPr>
            <a:r>
              <a:t>4.  User says "Buy me X" — AI handles the entire purchase flow</a:t>
            </a:r>
          </a:p>
          <a:p>
            <a:pPr>
              <a:spcAft>
                <a:spcPts val="200"/>
              </a:spcAft>
              <a:defRPr sz="900" b="0">
                <a:solidFill>
                  <a:srgbClr val="4A4A5A"/>
                </a:solidFill>
                <a:latin typeface="Calibri"/>
              </a:defRPr>
            </a:pPr>
            <a:r>
              <a:t>5.  Payment via Google Pay / Stripe — never touches merchant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383280"/>
          <a:ext cx="6858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103120"/>
                <a:gridCol w="182880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B3FD4"/>
                          </a:solidFill>
                          <a:latin typeface="Calibri"/>
                        </a:defRPr>
                      </a:pPr>
                      <a:r>
                        <a:t>Era</a:t>
                      </a:r>
                    </a:p>
                  </a:txBody>
                  <a:tcPr>
                    <a:solidFill>
                      <a:srgbClr val="E8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B3FD4"/>
                          </a:solidFill>
                          <a:latin typeface="Calibri"/>
                        </a:defRPr>
                      </a:pPr>
                      <a:r>
                        <a:t>How Customers Shop</a:t>
                      </a:r>
                    </a:p>
                  </a:txBody>
                  <a:tcPr>
                    <a:solidFill>
                      <a:srgbClr val="E8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B3FD4"/>
                          </a:solidFill>
                          <a:latin typeface="Calibri"/>
                        </a:defRPr>
                      </a:pPr>
                      <a:r>
                        <a:t>What Merchants Need</a:t>
                      </a:r>
                    </a:p>
                  </a:txBody>
                  <a:tcPr>
                    <a:solidFill>
                      <a:srgbClr val="E8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B3FD4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E8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A4A5A"/>
                          </a:solidFill>
                          <a:latin typeface="Calibri"/>
                        </a:defRPr>
                      </a:pPr>
                      <a:r>
                        <a:t>2000s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A4A5A"/>
                          </a:solidFill>
                          <a:latin typeface="Calibri"/>
                        </a:defRPr>
                      </a:pPr>
                      <a:r>
                        <a:t>Type URLs in browser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A4A5A"/>
                          </a:solidFill>
                          <a:latin typeface="Calibri"/>
                        </a:defRPr>
                      </a:pPr>
                      <a:r>
                        <a:t>A website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A4A5A"/>
                          </a:solidFill>
                          <a:latin typeface="Calibri"/>
                        </a:defRPr>
                      </a:pPr>
                      <a:r>
                        <a:t>HTTP / 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A4A5A"/>
                          </a:solidFill>
                          <a:latin typeface="Calibri"/>
                        </a:defRPr>
                      </a:pPr>
                      <a:r>
                        <a:t>2010s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A4A5A"/>
                          </a:solidFill>
                          <a:latin typeface="Calibri"/>
                        </a:defRPr>
                      </a:pPr>
                      <a:r>
                        <a:t>Tap apps on 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A4A5A"/>
                          </a:solidFill>
                          <a:latin typeface="Calibri"/>
                        </a:defRPr>
                      </a:pPr>
                      <a:r>
                        <a:t>A mobile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A4A5A"/>
                          </a:solidFill>
                          <a:latin typeface="Calibri"/>
                        </a:defRPr>
                      </a:pPr>
                      <a:r>
                        <a:t>REST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A4A5A"/>
                          </a:solidFill>
                          <a:latin typeface="Calibri"/>
                        </a:defRPr>
                      </a:pPr>
                      <a:r>
                        <a:t>2020s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A4A5A"/>
                          </a:solidFill>
                          <a:latin typeface="Calibri"/>
                        </a:defRPr>
                      </a:pPr>
                      <a:r>
                        <a:t>Search marketplaces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A4A5A"/>
                          </a:solidFill>
                          <a:latin typeface="Calibri"/>
                        </a:defRPr>
                      </a:pPr>
                      <a:r>
                        <a:t>Marketplace presence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A4A5A"/>
                          </a:solidFill>
                          <a:latin typeface="Calibri"/>
                        </a:defRPr>
                      </a:pPr>
                      <a:r>
                        <a:t>Amazon / Flipkart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A4A5A"/>
                          </a:solidFill>
                          <a:latin typeface="Calibri"/>
                        </a:defRPr>
                      </a:pPr>
                      <a:r>
                        <a:t>2026+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A4A5A"/>
                          </a:solidFill>
                          <a:latin typeface="Calibri"/>
                        </a:defRPr>
                      </a:pPr>
                      <a:r>
                        <a:t>Tell AI: "Buy me a Dyson V15"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A4A5A"/>
                          </a:solidFill>
                          <a:latin typeface="Calibri"/>
                        </a:defRPr>
                      </a:pPr>
                      <a:r>
                        <a:t>AI-compatible commerce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A4A5A"/>
                          </a:solidFill>
                          <a:latin typeface="Calibri"/>
                        </a:defRPr>
                      </a:pPr>
                      <a:r>
                        <a:t>UCP / ACP / 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80960" y="3383280"/>
            <a:ext cx="3931920" cy="137160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100" b="1">
                <a:solidFill>
                  <a:srgbClr val="2E7D32"/>
                </a:solidFill>
                <a:latin typeface="Calibri"/>
              </a:defRPr>
            </a:pPr>
            <a:r>
              <a:t>Already Onboard (20+ Partners)</a:t>
            </a:r>
          </a:p>
          <a:p>
            <a:pPr>
              <a:spcAft>
                <a:spcPts val="200"/>
              </a:spcAft>
              <a:defRPr sz="900" b="0">
                <a:solidFill>
                  <a:srgbClr val="4A4A5A"/>
                </a:solidFill>
                <a:latin typeface="Calibri"/>
              </a:defRPr>
            </a:pPr>
            <a:r>
              <a:t>Retailers: Walmart, Target, Best Buy, Etsy, Wayfair, Macy's, Flipkart, Zalando</a:t>
            </a:r>
          </a:p>
          <a:p>
            <a:pPr>
              <a:spcAft>
                <a:spcPts val="200"/>
              </a:spcAft>
              <a:defRPr sz="900" b="0">
                <a:solidFill>
                  <a:srgbClr val="4A4A5A"/>
                </a:solidFill>
                <a:latin typeface="Calibri"/>
              </a:defRPr>
            </a:pPr>
            <a:r>
              <a:t>Payments: Visa, Mastercard, Stripe, Adyen</a:t>
            </a:r>
          </a:p>
          <a:p>
            <a:pPr>
              <a:spcAft>
                <a:spcPts val="0"/>
              </a:spcAft>
              <a:defRPr sz="900" b="0">
                <a:solidFill>
                  <a:srgbClr val="4A4A5A"/>
                </a:solidFill>
                <a:latin typeface="Calibri"/>
              </a:defRPr>
            </a:pPr>
            <a:r>
              <a:t>Platforms: Shopify, Google, OpenAI, Microsoft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29200"/>
            <a:ext cx="11064240" cy="109728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D3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  <a:defRPr sz="900" b="1">
                <a:solidFill>
                  <a:srgbClr val="D3000F"/>
                </a:solidFill>
                <a:latin typeface="Calibri"/>
              </a:defRPr>
            </a:pPr>
            <a:r>
              <a:t>KEY INSIGHT</a:t>
            </a:r>
          </a:p>
          <a:p>
            <a:pPr algn="l">
              <a:spcAft>
                <a:spcPts val="30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UCP is NOT an API that Google provides. Merchants build the API. Google's Gemini calls it.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4A4A5A"/>
                </a:solidFill>
                <a:latin typeface="Calibri"/>
              </a:defRPr>
            </a:pPr>
            <a:r>
              <a:t>Like building a website — you don't "integrate with Chrome." You build the site, browsers find you. Same here — expose endpoints, AI agents find you.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64240" y="228600"/>
            <a:ext cx="457200" cy="457200"/>
          </a:xfrm>
          <a:prstGeom prst="roundRect">
            <a:avLst/>
          </a:prstGeom>
          <a:solidFill>
            <a:srgbClr val="5A2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A1A2E"/>
                </a:solidFill>
                <a:latin typeface="Calibri"/>
              </a:defRPr>
            </a:pPr>
            <a:r>
              <a:t>Why This Is Urgently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888"/>
                </a:solidFill>
                <a:latin typeface="Calibri"/>
              </a:defRPr>
            </a:pPr>
            <a:r>
              <a:t>If a merchant isn't connected to AI shopping, they become invisible. AI will recommend competitors instead.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5A2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394960" cy="201168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D3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D3000F"/>
                </a:solidFill>
                <a:latin typeface="Calibri"/>
              </a:defRPr>
            </a:pPr>
            <a:r>
              <a:t>WITHOUT Agentic Commerce</a:t>
            </a:r>
          </a:p>
          <a:p>
            <a:pPr algn="l">
              <a:spcAft>
                <a:spcPts val="0"/>
              </a:spcAft>
              <a:defRPr sz="900" b="1">
                <a:solidFill>
                  <a:srgbClr val="1A1A2E"/>
                </a:solidFill>
                <a:latin typeface="Calibri"/>
              </a:defRPr>
            </a:pPr>
            <a:r>
              <a:t>Customer: "Hey Gemini, buy me a Dyson V15"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C62828"/>
                </a:solidFill>
                <a:latin typeface="Calibri"/>
              </a:defRPr>
            </a:pPr>
            <a:r>
              <a:t>  Dyson not connected. AI says: "I found similar from Samsung and Shark."</a:t>
            </a:r>
          </a:p>
          <a:p>
            <a:pPr algn="l">
              <a:spcAft>
                <a:spcPts val="0"/>
              </a:spcAft>
              <a:defRPr sz="900" b="1">
                <a:solidFill>
                  <a:srgbClr val="1A1A2E"/>
                </a:solidFill>
                <a:latin typeface="Calibri"/>
              </a:defRPr>
            </a:pPr>
            <a:r>
              <a:t>Customer: "Reorder my Nespresso pods"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C62828"/>
                </a:solidFill>
                <a:latin typeface="Calibri"/>
              </a:defRPr>
            </a:pPr>
            <a:r>
              <a:t>  Nestle not connected. AI redirects to Amazon — lost margin, lost data.</a:t>
            </a:r>
          </a:p>
          <a:p>
            <a:pPr algn="l">
              <a:spcAft>
                <a:spcPts val="0"/>
              </a:spcAft>
              <a:defRPr sz="900" b="1">
                <a:solidFill>
                  <a:srgbClr val="1A1A2E"/>
                </a:solidFill>
                <a:latin typeface="Calibri"/>
              </a:defRPr>
            </a:pPr>
            <a:r>
              <a:t>Customer: "Find me running shoes under $150"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C62828"/>
                </a:solidFill>
                <a:latin typeface="Calibri"/>
              </a:defRPr>
            </a:pPr>
            <a:r>
              <a:t>  Nike not connected. AI shows Adidas, New Balance, Puma instead.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394960" cy="201168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300" b="1">
                <a:solidFill>
                  <a:srgbClr val="2E7D32"/>
                </a:solidFill>
                <a:latin typeface="Calibri"/>
              </a:defRPr>
            </a:pPr>
            <a:r>
              <a:t>WITH Agentic Commerce</a:t>
            </a:r>
          </a:p>
          <a:p>
            <a:pPr algn="l">
              <a:spcAft>
                <a:spcPts val="0"/>
              </a:spcAft>
              <a:defRPr sz="900" b="1">
                <a:solidFill>
                  <a:srgbClr val="1A1A2E"/>
                </a:solidFill>
                <a:latin typeface="Calibri"/>
              </a:defRPr>
            </a:pPr>
            <a:r>
              <a:t>Customer: "Hey Gemini, buy me a Dyson V15"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E7D32"/>
                </a:solidFill>
                <a:latin typeface="Calibri"/>
              </a:defRPr>
            </a:pPr>
            <a:r>
              <a:t>  Dyson IS connected. AI shows V15, checkout in 30 sec via Google Pay. DIRECT SALE.</a:t>
            </a:r>
          </a:p>
          <a:p>
            <a:pPr algn="l">
              <a:spcAft>
                <a:spcPts val="0"/>
              </a:spcAft>
              <a:defRPr sz="900" b="1">
                <a:solidFill>
                  <a:srgbClr val="1A1A2E"/>
                </a:solidFill>
                <a:latin typeface="Calibri"/>
              </a:defRPr>
            </a:pPr>
            <a:r>
              <a:t>Customer: "Reorder my Nespresso pods"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E7D32"/>
                </a:solidFill>
                <a:latin typeface="Calibri"/>
              </a:defRPr>
            </a:pPr>
            <a:r>
              <a:t>  Nestle IS connected. AI knows their account, reorders same pods. RECURRING REVENUE.</a:t>
            </a:r>
          </a:p>
          <a:p>
            <a:pPr algn="l">
              <a:spcAft>
                <a:spcPts val="0"/>
              </a:spcAft>
              <a:defRPr sz="900" b="1">
                <a:solidFill>
                  <a:srgbClr val="1A1A2E"/>
                </a:solidFill>
                <a:latin typeface="Calibri"/>
              </a:defRPr>
            </a:pPr>
            <a:r>
              <a:t>Customer: "Find me running shoes under $150"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E7D32"/>
                </a:solidFill>
                <a:latin typeface="Calibri"/>
              </a:defRPr>
            </a:pPr>
            <a:r>
              <a:t>  Nike IS connected. AI shows Nike options first. FULL MARGIN, OWN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66160"/>
            <a:ext cx="2103120" cy="100584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C4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2200" b="1">
                <a:solidFill>
                  <a:srgbClr val="C49A00"/>
                </a:solidFill>
                <a:latin typeface="Calibri"/>
              </a:defRPr>
            </a:pPr>
            <a:r>
              <a:t>$385B</a:t>
            </a:r>
          </a:p>
          <a:p>
            <a:pPr algn="ctr">
              <a:spcAft>
                <a:spcPts val="0"/>
              </a:spcAft>
              <a:defRPr sz="800" b="0">
                <a:solidFill>
                  <a:srgbClr val="4A4A5A"/>
                </a:solidFill>
                <a:latin typeface="Calibri"/>
              </a:defRPr>
            </a:pPr>
            <a:r>
              <a:t>Projected AI commerce</a:t>
            </a:r>
            <a:br/>
            <a:r>
              <a:t>market by 2028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3566160"/>
            <a:ext cx="2103120" cy="100584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2200" b="1">
                <a:solidFill>
                  <a:srgbClr val="1E88E5"/>
                </a:solidFill>
                <a:latin typeface="Calibri"/>
              </a:defRPr>
            </a:pPr>
            <a:r>
              <a:t>500M+</a:t>
            </a:r>
          </a:p>
          <a:p>
            <a:pPr algn="ctr">
              <a:spcAft>
                <a:spcPts val="0"/>
              </a:spcAft>
              <a:defRPr sz="800" b="0">
                <a:solidFill>
                  <a:srgbClr val="4A4A5A"/>
                </a:solidFill>
                <a:latin typeface="Calibri"/>
              </a:defRPr>
            </a:pPr>
            <a:r>
              <a:t>ChatGPT users who</a:t>
            </a:r>
            <a:br/>
            <a:r>
              <a:t>can now shop via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3566160"/>
            <a:ext cx="2103120" cy="100584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D3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2200" b="1">
                <a:solidFill>
                  <a:srgbClr val="D3000F"/>
                </a:solidFill>
                <a:latin typeface="Calibri"/>
              </a:defRPr>
            </a:pPr>
            <a:r>
              <a:t>2B+</a:t>
            </a:r>
          </a:p>
          <a:p>
            <a:pPr algn="ctr">
              <a:spcAft>
                <a:spcPts val="0"/>
              </a:spcAft>
              <a:defRPr sz="800" b="0">
                <a:solidFill>
                  <a:srgbClr val="4A4A5A"/>
                </a:solidFill>
                <a:latin typeface="Calibri"/>
              </a:defRPr>
            </a:pPr>
            <a:r>
              <a:t>Google users with</a:t>
            </a:r>
            <a:br/>
            <a:r>
              <a:t>Gemini AI shopping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566160"/>
            <a:ext cx="2103120" cy="100584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2200" b="1">
                <a:solidFill>
                  <a:srgbClr val="2E7D32"/>
                </a:solidFill>
                <a:latin typeface="Calibri"/>
              </a:defRPr>
            </a:pPr>
            <a:r>
              <a:t>20+</a:t>
            </a:r>
          </a:p>
          <a:p>
            <a:pPr algn="ctr">
              <a:spcAft>
                <a:spcPts val="0"/>
              </a:spcAft>
              <a:defRPr sz="800" b="0">
                <a:solidFill>
                  <a:srgbClr val="4A4A5A"/>
                </a:solidFill>
                <a:latin typeface="Calibri"/>
              </a:defRPr>
            </a:pPr>
            <a:r>
              <a:t>Global partners already</a:t>
            </a:r>
            <a:br/>
            <a:r>
              <a:t>onboard with UCP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3566160"/>
            <a:ext cx="2103120" cy="100584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6B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2200" b="1">
                <a:solidFill>
                  <a:srgbClr val="6B3FD4"/>
                </a:solidFill>
                <a:latin typeface="Calibri"/>
              </a:defRPr>
            </a:pPr>
            <a:r>
              <a:t>90%</a:t>
            </a:r>
          </a:p>
          <a:p>
            <a:pPr algn="ctr">
              <a:spcAft>
                <a:spcPts val="0"/>
              </a:spcAft>
              <a:defRPr sz="800" b="0">
                <a:solidFill>
                  <a:srgbClr val="4A4A5A"/>
                </a:solidFill>
                <a:latin typeface="Calibri"/>
              </a:defRPr>
            </a:pPr>
            <a:r>
              <a:t>Code reuse across</a:t>
            </a:r>
            <a:br/>
            <a:r>
              <a:t>UCP / ACP / MCP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00600"/>
            <a:ext cx="11064240" cy="100584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E6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  <a:defRPr sz="900" b="1">
                <a:solidFill>
                  <a:srgbClr val="E67E00"/>
                </a:solidFill>
                <a:latin typeface="Calibri"/>
              </a:defRPr>
            </a:pPr>
            <a:r>
              <a:t>THE COMPETITIVE THREAT</a:t>
            </a:r>
          </a:p>
          <a:p>
            <a:pPr algn="l">
              <a:spcAft>
                <a:spcPts val="30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Walmart, Target, Best Buy, Shopify merchants are ALREADY connected. Every day a client waits, AI sends their customers to competitors.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4A4A5A"/>
                </a:solidFill>
                <a:latin typeface="Calibri"/>
              </a:defRPr>
            </a:pPr>
            <a:r>
              <a:t>This is not a future trend — it launched in January 2026. The window to be a first-mover is 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64240" y="228600"/>
            <a:ext cx="457200" cy="457200"/>
          </a:xfrm>
          <a:prstGeom prst="roundRect">
            <a:avLst/>
          </a:prstGeom>
          <a:solidFill>
            <a:srgbClr val="5A2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A1A2E"/>
                </a:solidFill>
                <a:latin typeface="Calibri"/>
              </a:defRPr>
            </a:pPr>
            <a:r>
              <a:t>Architecture — Where Wipro 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888"/>
                </a:solidFill>
                <a:latin typeface="Calibri"/>
              </a:defRPr>
            </a:pPr>
            <a:r>
              <a:t>Wipro builds a thin translation layer + optional platform extension. Everything else stays untouched.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5A2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1325880"/>
            <a:ext cx="3931920" cy="50292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D8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END USER  —  "Hey Gemini, buy me a Dyson V15"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1874519"/>
            <a:ext cx="274320" cy="320040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8686800" cy="96012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100" b="1">
                <a:solidFill>
                  <a:srgbClr val="1E88E5"/>
                </a:solidFill>
                <a:latin typeface="Calibri"/>
              </a:defRPr>
            </a:pPr>
            <a:r>
              <a:t>AI SHOPPING PLATFORMS  (not our scope)</a:t>
            </a:r>
          </a:p>
          <a:p>
            <a:pPr algn="l">
              <a:spcAft>
                <a:spcPts val="0"/>
              </a:spcAft>
              <a:defRPr sz="800" b="0">
                <a:solidFill>
                  <a:srgbClr val="787888"/>
                </a:solidFill>
                <a:latin typeface="Calibri"/>
              </a:defRPr>
            </a:pPr>
            <a:r>
              <a:t>Google provides: user identity, Google Pay, shipping address, Shopping Graph, conversation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26517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800" b="1">
                <a:solidFill>
                  <a:srgbClr val="1E88E5"/>
                </a:solidFill>
                <a:latin typeface="Calibri"/>
              </a:defRPr>
            </a:pPr>
            <a:r>
              <a:t>Google Gemini  (UCP)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743200"/>
            <a:ext cx="26517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3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800" b="1">
                <a:solidFill>
                  <a:srgbClr val="6B3FD4"/>
                </a:solidFill>
                <a:latin typeface="Calibri"/>
              </a:defRPr>
            </a:pPr>
            <a:r>
              <a:t>OpenAI ChatGPT  (ACP)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743200"/>
            <a:ext cx="26517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800" b="1">
                <a:solidFill>
                  <a:srgbClr val="0078D4"/>
                </a:solidFill>
                <a:latin typeface="Calibri"/>
              </a:defRPr>
            </a:pPr>
            <a:r>
              <a:t>Microsoft Copilot  (Checkout)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43600" y="3200400"/>
            <a:ext cx="274320" cy="320040"/>
          </a:xfrm>
          <a:prstGeom prst="downArrow">
            <a:avLst/>
          </a:prstGeom>
          <a:solidFill>
            <a:srgbClr val="5A2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5A2FC2"/>
                </a:solidFill>
                <a:latin typeface="Calibri"/>
              </a:defRPr>
            </a:pPr>
            <a:r>
              <a:t>HTTPS REST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8686800" cy="137160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100" b="1">
                <a:solidFill>
                  <a:srgbClr val="6B3FD4"/>
                </a:solidFill>
                <a:latin typeface="Calibri"/>
              </a:defRPr>
            </a:pPr>
            <a:r>
              <a:t>WIPRO AGENTIC COMMERCE ACCELERATOR  (deployed on client's cloud)</a:t>
            </a:r>
          </a:p>
          <a:p>
            <a:pPr algn="l">
              <a:spcAft>
                <a:spcPts val="0"/>
              </a:spcAft>
              <a:defRPr sz="800" b="0">
                <a:solidFill>
                  <a:srgbClr val="787888"/>
                </a:solidFill>
                <a:latin typeface="Calibri"/>
              </a:defRPr>
            </a:pPr>
            <a:r>
              <a:t>Lambda / Container / Cloud Run  |  Stateless  |  Session-to-cart mapping in Redis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60520"/>
            <a:ext cx="1600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800" b="1">
                <a:solidFill>
                  <a:srgbClr val="6B3FD4"/>
                </a:solidFill>
                <a:latin typeface="Calibri"/>
              </a:defRPr>
            </a:pPr>
            <a:r>
              <a:t>Discovery</a:t>
            </a:r>
          </a:p>
          <a:p>
            <a:pPr algn="ctr">
              <a:spcAft>
                <a:spcPts val="0"/>
              </a:spcAft>
              <a:defRPr sz="600" b="0">
                <a:solidFill>
                  <a:srgbClr val="4A4A5A"/>
                </a:solidFill>
                <a:latin typeface="Courier New"/>
              </a:defRPr>
            </a:pPr>
            <a:r>
              <a:t>/.well-known/ucp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4160520"/>
            <a:ext cx="1600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800" b="1">
                <a:solidFill>
                  <a:srgbClr val="6B3FD4"/>
                </a:solidFill>
                <a:latin typeface="Calibri"/>
              </a:defRPr>
            </a:pPr>
            <a:r>
              <a:t>Checkout APIs</a:t>
            </a:r>
          </a:p>
          <a:p>
            <a:pPr algn="ctr">
              <a:spcAft>
                <a:spcPts val="0"/>
              </a:spcAft>
              <a:defRPr sz="600" b="0">
                <a:solidFill>
                  <a:srgbClr val="4A4A5A"/>
                </a:solidFill>
                <a:latin typeface="Courier New"/>
              </a:defRPr>
            </a:pPr>
            <a:r>
              <a:t>POST/GET/PUT</a:t>
            </a:r>
            <a:br/>
            <a:r>
              <a:t>complete/cancel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160520"/>
            <a:ext cx="1600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800" b="1">
                <a:solidFill>
                  <a:srgbClr val="6B3FD4"/>
                </a:solidFill>
                <a:latin typeface="Calibri"/>
              </a:defRPr>
            </a:pPr>
            <a:r>
              <a:t>Field Translation</a:t>
            </a:r>
          </a:p>
          <a:p>
            <a:pPr algn="ctr">
              <a:spcAft>
                <a:spcPts val="0"/>
              </a:spcAft>
              <a:defRPr sz="600" b="0">
                <a:solidFill>
                  <a:srgbClr val="4A4A5A"/>
                </a:solidFill>
                <a:latin typeface="Courier New"/>
              </a:defRPr>
            </a:pPr>
            <a:r>
              <a:t>UCP &lt;&gt; SAP/SFCC</a:t>
            </a:r>
            <a:br/>
            <a:r>
              <a:t>field mapping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599" y="4160520"/>
            <a:ext cx="1600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800" b="1">
                <a:solidFill>
                  <a:srgbClr val="6B3FD4"/>
                </a:solidFill>
                <a:latin typeface="Calibri"/>
              </a:defRPr>
            </a:pPr>
            <a:r>
              <a:t>Identity &amp; Auth</a:t>
            </a:r>
          </a:p>
          <a:p>
            <a:pPr algn="ctr">
              <a:spcAft>
                <a:spcPts val="0"/>
              </a:spcAft>
              <a:defRPr sz="600" b="0">
                <a:solidFill>
                  <a:srgbClr val="4A4A5A"/>
                </a:solidFill>
                <a:latin typeface="Courier New"/>
              </a:defRPr>
            </a:pPr>
            <a:r>
              <a:t>OAuth2 authorize</a:t>
            </a:r>
            <a:br/>
            <a:r>
              <a:t>token, Bearer pass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4160520"/>
            <a:ext cx="1600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  <a:defRPr sz="800" b="1">
                <a:solidFill>
                  <a:srgbClr val="6B3FD4"/>
                </a:solidFill>
                <a:latin typeface="Calibri"/>
              </a:defRPr>
            </a:pPr>
            <a:r>
              <a:t>Order Webhooks</a:t>
            </a:r>
          </a:p>
          <a:p>
            <a:pPr algn="ctr">
              <a:spcAft>
                <a:spcPts val="0"/>
              </a:spcAft>
              <a:defRPr sz="600" b="0">
                <a:solidFill>
                  <a:srgbClr val="4A4A5A"/>
                </a:solidFill>
                <a:latin typeface="Courier New"/>
              </a:defRPr>
            </a:pPr>
            <a:r>
              <a:t>JWT signed push</a:t>
            </a:r>
            <a:br/>
            <a:r>
              <a:t>to Google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943600" y="5029200"/>
            <a:ext cx="274320" cy="274320"/>
          </a:xfrm>
          <a:prstGeom prst="downArrow">
            <a:avLst/>
          </a:prstGeom>
          <a:solidFill>
            <a:srgbClr val="E6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50292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E67E00"/>
                </a:solidFill>
                <a:latin typeface="Calibri"/>
              </a:defRPr>
            </a:pPr>
            <a:r>
              <a:t>Calls platform APIs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94960"/>
            <a:ext cx="8686800" cy="73152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E6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  <a:defRPr sz="1000" b="1">
                <a:solidFill>
                  <a:srgbClr val="E67E00"/>
                </a:solidFill>
                <a:latin typeface="Calibri"/>
              </a:defRPr>
            </a:pPr>
            <a:r>
              <a:t>WIPRO PLATFORM EXTENSION  (only if platform lacks required APIs)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60720"/>
            <a:ext cx="20116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700" b="1">
                <a:solidFill>
                  <a:srgbClr val="E67E00"/>
                </a:solidFill>
                <a:latin typeface="Calibri"/>
              </a:defRPr>
            </a:pPr>
            <a:r>
              <a:t>SAP Commerce: Custom OCC 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5760720"/>
            <a:ext cx="20116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700" b="1">
                <a:solidFill>
                  <a:srgbClr val="E67E00"/>
                </a:solidFill>
                <a:latin typeface="Calibri"/>
              </a:defRPr>
            </a:pPr>
            <a:r>
              <a:t>Salesforce SFCC: Custom Cartridge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5760720"/>
            <a:ext cx="20116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700" b="1">
                <a:solidFill>
                  <a:srgbClr val="E67E00"/>
                </a:solidFill>
                <a:latin typeface="Calibri"/>
              </a:defRPr>
            </a:pPr>
            <a:r>
              <a:t>Shopify: Custom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199" y="5760720"/>
            <a:ext cx="20116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  <a:defRPr sz="700" b="1">
                <a:solidFill>
                  <a:srgbClr val="E67E00"/>
                </a:solidFill>
                <a:latin typeface="Calibri"/>
              </a:defRPr>
            </a:pPr>
            <a:r>
              <a:t>Magento: Custom Module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943600" y="6126480"/>
            <a:ext cx="274320" cy="228600"/>
          </a:xfrm>
          <a:prstGeom prst="down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6400800"/>
            <a:ext cx="8686800" cy="36576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CLIENT'S COMMERCE PLATFORM (untouched)  —  Pricing, Tax, Inventory, Fulfillment, All Business Logic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2286000"/>
            <a:ext cx="2011680" cy="146304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C4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000" b="1">
                <a:solidFill>
                  <a:srgbClr val="C49A00"/>
                </a:solidFill>
                <a:latin typeface="Calibri"/>
              </a:defRPr>
            </a:pPr>
            <a:r>
              <a:t>PAYMENT</a:t>
            </a:r>
          </a:p>
          <a:p>
            <a:pPr algn="l">
              <a:spcAft>
                <a:spcPts val="400"/>
              </a:spcAft>
              <a:defRPr sz="700" b="0">
                <a:solidFill>
                  <a:srgbClr val="787888"/>
                </a:solidFill>
                <a:latin typeface="Calibri"/>
              </a:defRPr>
            </a:pPr>
            <a:r>
              <a:t>(separate — never touches Wipro)</a:t>
            </a:r>
          </a:p>
          <a:p>
            <a:pPr>
              <a:spcAft>
                <a:spcPts val="200"/>
              </a:spcAft>
              <a:defRPr sz="800" b="0">
                <a:solidFill>
                  <a:srgbClr val="C49A00"/>
                </a:solidFill>
                <a:latin typeface="Calibri"/>
              </a:defRPr>
            </a:pPr>
            <a:r>
              <a:t>Google Pay</a:t>
            </a:r>
          </a:p>
          <a:p>
            <a:pPr>
              <a:spcAft>
                <a:spcPts val="200"/>
              </a:spcAft>
              <a:defRPr sz="800" b="0">
                <a:solidFill>
                  <a:srgbClr val="C49A00"/>
                </a:solidFill>
                <a:latin typeface="Calibri"/>
              </a:defRPr>
            </a:pPr>
            <a:r>
              <a:t>Stripe / Adyen</a:t>
            </a:r>
          </a:p>
          <a:p>
            <a:pPr algn="l">
              <a:spcAft>
                <a:spcPts val="0"/>
              </a:spcAft>
              <a:defRPr sz="700" b="0">
                <a:solidFill>
                  <a:srgbClr val="787888"/>
                </a:solidFill>
                <a:latin typeface="Calibri"/>
              </a:defRPr>
            </a:pPr>
            <a:r>
              <a:t>Tokenized, PCI-compliant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3931920"/>
            <a:ext cx="2011680" cy="155448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0097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200"/>
              </a:spcAft>
              <a:defRPr sz="1000" b="1">
                <a:solidFill>
                  <a:srgbClr val="0097A7"/>
                </a:solidFill>
                <a:latin typeface="Calibri"/>
              </a:defRPr>
            </a:pPr>
            <a:r>
              <a:t>ORDER UPDATES</a:t>
            </a:r>
          </a:p>
          <a:p>
            <a:pPr algn="l">
              <a:spcAft>
                <a:spcPts val="400"/>
              </a:spcAft>
              <a:defRPr sz="700" b="0">
                <a:solidFill>
                  <a:srgbClr val="787888"/>
                </a:solidFill>
                <a:latin typeface="Calibri"/>
              </a:defRPr>
            </a:pPr>
            <a:r>
              <a:t>(Webhook: Merchant &gt; Google)</a:t>
            </a:r>
          </a:p>
          <a:p>
            <a:pPr>
              <a:spcAft>
                <a:spcPts val="1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SAP fires status event</a:t>
            </a:r>
          </a:p>
          <a:p>
            <a:pPr>
              <a:spcAft>
                <a:spcPts val="1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Wipro builds full order</a:t>
            </a:r>
          </a:p>
          <a:p>
            <a:pPr>
              <a:spcAft>
                <a:spcPts val="1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Signs with JWT</a:t>
            </a:r>
          </a:p>
          <a:p>
            <a:pPr>
              <a:spcAft>
                <a:spcPts val="1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POST to Google webhook</a:t>
            </a:r>
          </a:p>
          <a:p>
            <a:pPr>
              <a:spcAft>
                <a:spcPts val="1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User gets update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5669280"/>
            <a:ext cx="2011680" cy="109728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D3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  <a:defRPr sz="900" b="1">
                <a:solidFill>
                  <a:srgbClr val="D3000F"/>
                </a:solidFill>
                <a:latin typeface="Calibri"/>
              </a:defRPr>
            </a:pPr>
            <a:r>
              <a:t>NOT OUR SCOPE</a:t>
            </a:r>
          </a:p>
          <a:p>
            <a:pPr>
              <a:spcAft>
                <a:spcPts val="100"/>
              </a:spcAft>
              <a:defRPr sz="700" b="0">
                <a:solidFill>
                  <a:srgbClr val="D3000F"/>
                </a:solidFill>
                <a:latin typeface="Calibri"/>
              </a:defRPr>
            </a:pPr>
            <a:r>
              <a:t>A2A Protocol</a:t>
            </a:r>
          </a:p>
          <a:p>
            <a:pPr>
              <a:spcAft>
                <a:spcPts val="100"/>
              </a:spcAft>
              <a:defRPr sz="700" b="0">
                <a:solidFill>
                  <a:srgbClr val="D3000F"/>
                </a:solidFill>
                <a:latin typeface="Calibri"/>
              </a:defRPr>
            </a:pPr>
            <a:r>
              <a:t>ADK / AI Agent</a:t>
            </a:r>
          </a:p>
          <a:p>
            <a:pPr>
              <a:spcAft>
                <a:spcPts val="100"/>
              </a:spcAft>
              <a:defRPr sz="700" b="0">
                <a:solidFill>
                  <a:srgbClr val="D3000F"/>
                </a:solidFill>
                <a:latin typeface="Calibri"/>
              </a:defRPr>
            </a:pPr>
            <a:r>
              <a:t>Chatbot / LLM</a:t>
            </a:r>
          </a:p>
          <a:p>
            <a:pPr>
              <a:spcAft>
                <a:spcPts val="100"/>
              </a:spcAft>
              <a:defRPr sz="700" b="0">
                <a:solidFill>
                  <a:srgbClr val="D3000F"/>
                </a:solidFill>
                <a:latin typeface="Calibri"/>
              </a:defRPr>
            </a:pPr>
            <a:r>
              <a:t>Payment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64240" y="228600"/>
            <a:ext cx="457200" cy="457200"/>
          </a:xfrm>
          <a:prstGeom prst="roundRect">
            <a:avLst/>
          </a:prstGeom>
          <a:solidFill>
            <a:srgbClr val="5A2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1A1A2E"/>
                </a:solidFill>
                <a:latin typeface="Calibri"/>
              </a:defRPr>
            </a:pPr>
            <a:r>
              <a:t>Wipro's Scope, Progress &amp; Plan — UCP for Google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787888"/>
                </a:solidFill>
                <a:latin typeface="Calibri"/>
              </a:defRPr>
            </a:pPr>
            <a:r>
              <a:t>What we build, what we don't, what's done, what's remaining, and the step-by-step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5A2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657600" cy="246888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5A2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1">
                <a:solidFill>
                  <a:srgbClr val="6B3FD4"/>
                </a:solidFill>
                <a:latin typeface="Calibri"/>
              </a:defRPr>
            </a:pPr>
            <a:r>
              <a:t>What Wipro Builds</a:t>
            </a:r>
          </a:p>
          <a:p>
            <a:pPr algn="l">
              <a:spcAft>
                <a:spcPts val="0"/>
              </a:spcAft>
              <a:defRPr sz="900" b="1">
                <a:solidFill>
                  <a:srgbClr val="6B3FD4"/>
                </a:solidFill>
                <a:latin typeface="Calibri"/>
              </a:defRPr>
            </a:pPr>
            <a:r>
              <a:t>UCP Discovery Profile</a:t>
            </a:r>
          </a:p>
          <a:p>
            <a:pPr>
              <a:spcAft>
                <a:spcPts val="3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/.well-known/ucp — declares capabilities, payment, signing keys</a:t>
            </a:r>
          </a:p>
          <a:p>
            <a:pPr algn="l">
              <a:spcAft>
                <a:spcPts val="0"/>
              </a:spcAft>
              <a:defRPr sz="900" b="1">
                <a:solidFill>
                  <a:srgbClr val="6B3FD4"/>
                </a:solidFill>
                <a:latin typeface="Calibri"/>
              </a:defRPr>
            </a:pPr>
            <a:r>
              <a:t>5 Checkout REST Endpoints</a:t>
            </a:r>
          </a:p>
          <a:p>
            <a:pPr>
              <a:spcAft>
                <a:spcPts val="3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POST/GET/PUT checkout-sessions, complete, cancel</a:t>
            </a:r>
          </a:p>
          <a:p>
            <a:pPr algn="l">
              <a:spcAft>
                <a:spcPts val="0"/>
              </a:spcAft>
              <a:defRPr sz="900" b="1">
                <a:solidFill>
                  <a:srgbClr val="6B3FD4"/>
                </a:solidFill>
                <a:latin typeface="Calibri"/>
              </a:defRPr>
            </a:pPr>
            <a:r>
              <a:t>Field Translation Layer</a:t>
            </a:r>
          </a:p>
          <a:p>
            <a:pPr>
              <a:spcAft>
                <a:spcPts val="3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UCP fields &lt;&gt; SAP OCC fields (city &gt; town, cents &gt; dollars)</a:t>
            </a:r>
          </a:p>
          <a:p>
            <a:pPr algn="l">
              <a:spcAft>
                <a:spcPts val="0"/>
              </a:spcAft>
              <a:defRPr sz="900" b="1">
                <a:solidFill>
                  <a:srgbClr val="6B3FD4"/>
                </a:solidFill>
                <a:latin typeface="Calibri"/>
              </a:defRPr>
            </a:pPr>
            <a:r>
              <a:t>OAuth2 Identity Linking</a:t>
            </a:r>
          </a:p>
          <a:p>
            <a:pPr>
              <a:spcAft>
                <a:spcPts val="3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/authorize + /token — links Google account to merchant</a:t>
            </a:r>
          </a:p>
          <a:p>
            <a:pPr algn="l">
              <a:spcAft>
                <a:spcPts val="0"/>
              </a:spcAft>
              <a:defRPr sz="900" b="1">
                <a:solidFill>
                  <a:srgbClr val="6B3FD4"/>
                </a:solidFill>
                <a:latin typeface="Calibri"/>
              </a:defRPr>
            </a:pPr>
            <a:r>
              <a:t>Order Status Webhooks</a:t>
            </a:r>
          </a:p>
          <a:p>
            <a:pPr>
              <a:spcAft>
                <a:spcPts val="3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Full order push to Google, signed with JWT (UCP profile keys)</a:t>
            </a:r>
          </a:p>
          <a:p>
            <a:pPr algn="l">
              <a:spcAft>
                <a:spcPts val="0"/>
              </a:spcAft>
              <a:defRPr sz="900" b="1">
                <a:solidFill>
                  <a:srgbClr val="6B3FD4"/>
                </a:solidFill>
                <a:latin typeface="Calibri"/>
              </a:defRPr>
            </a:pPr>
            <a:r>
              <a:t>Platform Extension</a:t>
            </a:r>
          </a:p>
          <a:p>
            <a:pPr>
              <a:spcAft>
                <a:spcPts val="3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SAP OCC addon / SFCC cartridge — only if platform lacks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291840" cy="246888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D3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1">
                <a:solidFill>
                  <a:srgbClr val="D3000F"/>
                </a:solidFill>
                <a:latin typeface="Calibri"/>
              </a:defRPr>
            </a:pPr>
            <a:r>
              <a:t>What Wipro Does NOT Build</a:t>
            </a:r>
          </a:p>
          <a:p>
            <a:pPr algn="l">
              <a:spcAft>
                <a:spcPts val="0"/>
              </a:spcAft>
              <a:defRPr sz="900" b="1">
                <a:solidFill>
                  <a:srgbClr val="D3000F"/>
                </a:solidFill>
                <a:latin typeface="Calibri"/>
              </a:defRPr>
            </a:pPr>
            <a:r>
              <a:t>X  A2A Protocol</a:t>
            </a:r>
          </a:p>
          <a:p>
            <a:pPr>
              <a:spcAft>
                <a:spcPts val="3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Google's internal agent-to-agent comms — their plumbing</a:t>
            </a:r>
          </a:p>
          <a:p>
            <a:pPr algn="l">
              <a:spcAft>
                <a:spcPts val="0"/>
              </a:spcAft>
              <a:defRPr sz="900" b="1">
                <a:solidFill>
                  <a:srgbClr val="D3000F"/>
                </a:solidFill>
                <a:latin typeface="Calibri"/>
              </a:defRPr>
            </a:pPr>
            <a:r>
              <a:t>X  ADK / AI Agent</a:t>
            </a:r>
          </a:p>
          <a:p>
            <a:pPr>
              <a:spcAft>
                <a:spcPts val="3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Google builds Gemini AI — we just receive its REST calls</a:t>
            </a:r>
          </a:p>
          <a:p>
            <a:pPr algn="l">
              <a:spcAft>
                <a:spcPts val="0"/>
              </a:spcAft>
              <a:defRPr sz="900" b="1">
                <a:solidFill>
                  <a:srgbClr val="D3000F"/>
                </a:solidFill>
                <a:latin typeface="Calibri"/>
              </a:defRPr>
            </a:pPr>
            <a:r>
              <a:t>X  Chatbot / LLM</a:t>
            </a:r>
          </a:p>
          <a:p>
            <a:pPr>
              <a:spcAft>
                <a:spcPts val="3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All AI reasoning &amp; conversation is Google's scope</a:t>
            </a:r>
          </a:p>
          <a:p>
            <a:pPr algn="l">
              <a:spcAft>
                <a:spcPts val="0"/>
              </a:spcAft>
              <a:defRPr sz="900" b="1">
                <a:solidFill>
                  <a:srgbClr val="D3000F"/>
                </a:solidFill>
                <a:latin typeface="Calibri"/>
              </a:defRPr>
            </a:pPr>
            <a:r>
              <a:t>X  Payment Processing</a:t>
            </a:r>
          </a:p>
          <a:p>
            <a:pPr>
              <a:spcAft>
                <a:spcPts val="3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Google Pay token &gt; Stripe/Adyen decrypts &amp; charges</a:t>
            </a:r>
          </a:p>
          <a:p>
            <a:pPr algn="l">
              <a:spcAft>
                <a:spcPts val="0"/>
              </a:spcAft>
              <a:defRPr sz="900" b="1">
                <a:solidFill>
                  <a:srgbClr val="D3000F"/>
                </a:solidFill>
                <a:latin typeface="Calibri"/>
              </a:defRPr>
            </a:pPr>
            <a:r>
              <a:t>X  Business Logic</a:t>
            </a:r>
          </a:p>
          <a:p>
            <a:pPr>
              <a:spcAft>
                <a:spcPts val="3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Pricing, tax, inventory, promotions — stays in SAP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325880"/>
            <a:ext cx="3749039" cy="246888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1">
                <a:solidFill>
                  <a:srgbClr val="2E7D32"/>
                </a:solidFill>
                <a:latin typeface="Calibri"/>
              </a:defRPr>
            </a:pPr>
            <a:r>
              <a:t>What We've Done So Far</a:t>
            </a:r>
          </a:p>
          <a:p>
            <a:pPr algn="l"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Working POC</a:t>
            </a:r>
          </a:p>
          <a:p>
            <a:pPr>
              <a:spcAft>
                <a:spcPts val="3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Spring Boot app — all 5 UCP endpoints + discovery + SAP OCC mock</a:t>
            </a:r>
          </a:p>
          <a:p>
            <a:pPr algn="l"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Full UCP Spec Research</a:t>
            </a:r>
          </a:p>
          <a:p>
            <a:pPr>
              <a:spcAft>
                <a:spcPts val="3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Read complete Google UCP spec from ucp.dev — checkout, orders, identity</a:t>
            </a:r>
          </a:p>
          <a:p>
            <a:pPr algn="l"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Field Mapping (UCP &gt; SAP)</a:t>
            </a:r>
          </a:p>
          <a:p>
            <a:pPr>
              <a:spcAft>
                <a:spcPts val="3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Mapped all fields: address, cart, checkout, order status</a:t>
            </a:r>
          </a:p>
          <a:p>
            <a:pPr algn="l"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Identity Linking</a:t>
            </a:r>
          </a:p>
          <a:p>
            <a:pPr>
              <a:spcAft>
                <a:spcPts val="3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OAuth2 authorize/token endpoints built and working in POC</a:t>
            </a:r>
          </a:p>
          <a:p>
            <a:pPr algn="l"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Architecture Design</a:t>
            </a:r>
          </a:p>
          <a:p>
            <a:pPr>
              <a:spcAft>
                <a:spcPts val="3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4-layer design: Google &gt; Wipro UCP &gt; Extension &gt; Client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5029200" cy="256032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E6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1">
                <a:solidFill>
                  <a:srgbClr val="E67E00"/>
                </a:solidFill>
                <a:latin typeface="Calibri"/>
              </a:defRPr>
            </a:pPr>
            <a:r>
              <a:t>What's Still Needed (UCP Only)</a:t>
            </a:r>
          </a:p>
          <a:p>
            <a:pPr algn="l">
              <a:spcAft>
                <a:spcPts val="0"/>
              </a:spcAft>
              <a:defRPr sz="900" b="1">
                <a:solidFill>
                  <a:srgbClr val="E67E00"/>
                </a:solidFill>
                <a:latin typeface="Calibri"/>
              </a:defRPr>
            </a:pPr>
            <a:r>
              <a:t>Connect to Real SAP</a:t>
            </a:r>
          </a:p>
          <a:p>
            <a:pPr>
              <a:spcAft>
                <a:spcPts val="2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Replace mock with actual SAP Commerce OCC APIs — need sandbox access</a:t>
            </a:r>
          </a:p>
          <a:p>
            <a:pPr algn="l">
              <a:spcAft>
                <a:spcPts val="0"/>
              </a:spcAft>
              <a:defRPr sz="900" b="1">
                <a:solidFill>
                  <a:srgbClr val="E67E00"/>
                </a:solidFill>
                <a:latin typeface="Calibri"/>
              </a:defRPr>
            </a:pPr>
            <a:r>
              <a:t>Google Merchant Center</a:t>
            </a:r>
          </a:p>
          <a:p>
            <a:pPr>
              <a:spcAft>
                <a:spcPts val="2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Register merchant, upload product feed with native_commerce=TRUE</a:t>
            </a:r>
          </a:p>
          <a:p>
            <a:pPr algn="l">
              <a:spcAft>
                <a:spcPts val="0"/>
              </a:spcAft>
              <a:defRPr sz="900" b="1">
                <a:solidFill>
                  <a:srgbClr val="E67E00"/>
                </a:solidFill>
                <a:latin typeface="Calibri"/>
              </a:defRPr>
            </a:pPr>
            <a:r>
              <a:t>Google Pay via PSP</a:t>
            </a:r>
          </a:p>
          <a:p>
            <a:pPr>
              <a:spcAft>
                <a:spcPts val="2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Set up Stripe/Adyen to accept Google Pay tokenized payment tokens</a:t>
            </a:r>
          </a:p>
          <a:p>
            <a:pPr algn="l">
              <a:spcAft>
                <a:spcPts val="0"/>
              </a:spcAft>
              <a:defRPr sz="900" b="1">
                <a:solidFill>
                  <a:srgbClr val="E67E00"/>
                </a:solidFill>
                <a:latin typeface="Calibri"/>
              </a:defRPr>
            </a:pPr>
            <a:r>
              <a:t>Order Webhooks</a:t>
            </a:r>
          </a:p>
          <a:p>
            <a:pPr>
              <a:spcAft>
                <a:spcPts val="2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SAP status events &gt; Wipro translates &gt; signed JWT push to Google</a:t>
            </a:r>
          </a:p>
          <a:p>
            <a:pPr algn="l">
              <a:spcAft>
                <a:spcPts val="0"/>
              </a:spcAft>
              <a:defRPr sz="900" b="1">
                <a:solidFill>
                  <a:srgbClr val="E67E00"/>
                </a:solidFill>
                <a:latin typeface="Calibri"/>
              </a:defRPr>
            </a:pPr>
            <a:r>
              <a:t>Security &amp; Signing</a:t>
            </a:r>
          </a:p>
          <a:p>
            <a:pPr>
              <a:spcAft>
                <a:spcPts val="2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JWK key pair for request signing, OAuth2 hardening, HTTPS</a:t>
            </a:r>
          </a:p>
          <a:p>
            <a:pPr algn="l">
              <a:spcAft>
                <a:spcPts val="0"/>
              </a:spcAft>
              <a:defRPr sz="900" b="1">
                <a:solidFill>
                  <a:srgbClr val="E67E00"/>
                </a:solidFill>
                <a:latin typeface="Calibri"/>
              </a:defRPr>
            </a:pPr>
            <a:r>
              <a:t>Testing &amp; Monitoring</a:t>
            </a:r>
          </a:p>
          <a:p>
            <a:pPr>
              <a:spcAft>
                <a:spcPts val="2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End-to-end flow testing, latency checks, logging, error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4023360"/>
            <a:ext cx="5852160" cy="2560320"/>
          </a:xfrm>
          <a:prstGeom prst="roundRect">
            <a:avLst/>
          </a:prstGeom>
          <a:solidFill>
            <a:srgbClr val="F5F5F8"/>
          </a:solidFill>
          <a:ln w="1270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200" b="1">
                <a:solidFill>
                  <a:srgbClr val="1E88E5"/>
                </a:solidFill>
                <a:latin typeface="Calibri"/>
              </a:defRPr>
            </a:pPr>
            <a:r>
              <a:t>The Plan — UCP (Google/Gemini)</a:t>
            </a:r>
          </a:p>
          <a:p>
            <a:pPr algn="l">
              <a:spcAft>
                <a:spcPts val="0"/>
              </a:spcAft>
              <a:defRPr sz="900" b="1">
                <a:solidFill>
                  <a:srgbClr val="6B3FD4"/>
                </a:solidFill>
                <a:latin typeface="Calibri"/>
              </a:defRPr>
            </a:pPr>
            <a:r>
              <a:t>Step 1: Client + SAP Sandbox  (Week 1)</a:t>
            </a:r>
          </a:p>
          <a:p>
            <a:pPr>
              <a:spcAft>
                <a:spcPts val="2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Identify SAP Commerce client. Get OCC sandbox access.</a:t>
            </a:r>
          </a:p>
          <a:p>
            <a:pPr algn="l">
              <a:spcAft>
                <a:spcPts val="0"/>
              </a:spcAft>
              <a:defRPr sz="900" b="1">
                <a:solidFill>
                  <a:srgbClr val="1E88E5"/>
                </a:solidFill>
                <a:latin typeface="Calibri"/>
              </a:defRPr>
            </a:pPr>
            <a:r>
              <a:t>Step 2: Connect to Real SAP  (Week 2-3)</a:t>
            </a:r>
          </a:p>
          <a:p>
            <a:pPr>
              <a:spcAft>
                <a:spcPts val="2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Replace mock with real OCC APIs. Validate field mappings.</a:t>
            </a:r>
          </a:p>
          <a:p>
            <a:pPr algn="l"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Step 3: Google Merchant + Pay  (Week 3-4)</a:t>
            </a:r>
          </a:p>
          <a:p>
            <a:pPr>
              <a:spcAft>
                <a:spcPts val="2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Register in Merchant Center, upload feed, set up Google Pay PSP.</a:t>
            </a:r>
          </a:p>
          <a:p>
            <a:pPr algn="l">
              <a:spcAft>
                <a:spcPts val="0"/>
              </a:spcAft>
              <a:defRPr sz="900" b="1">
                <a:solidFill>
                  <a:srgbClr val="E67E00"/>
                </a:solidFill>
                <a:latin typeface="Calibri"/>
              </a:defRPr>
            </a:pPr>
            <a:r>
              <a:t>Step 4: Order Webhooks + Signing  (Week 4-5)</a:t>
            </a:r>
          </a:p>
          <a:p>
            <a:pPr>
              <a:spcAft>
                <a:spcPts val="2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SAP events &gt; Wipro &gt; signed JWT push to Google webhook_url.</a:t>
            </a:r>
          </a:p>
          <a:p>
            <a:pPr algn="l">
              <a:spcAft>
                <a:spcPts val="0"/>
              </a:spcAft>
              <a:defRPr sz="900" b="1">
                <a:solidFill>
                  <a:srgbClr val="0097A7"/>
                </a:solidFill>
                <a:latin typeface="Calibri"/>
              </a:defRPr>
            </a:pPr>
            <a:r>
              <a:t>Step 5: Identity Linking  (Week 5-6)</a:t>
            </a:r>
          </a:p>
          <a:p>
            <a:pPr>
              <a:spcAft>
                <a:spcPts val="2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OAuth2 flow with real SAP customer accounts. Guest + linked.</a:t>
            </a:r>
          </a:p>
          <a:p>
            <a:pPr algn="l">
              <a:spcAft>
                <a:spcPts val="0"/>
              </a:spcAft>
              <a:defRPr sz="900" b="1">
                <a:solidFill>
                  <a:srgbClr val="C49A00"/>
                </a:solidFill>
                <a:latin typeface="Calibri"/>
              </a:defRPr>
            </a:pPr>
            <a:r>
              <a:t>Step 6: E2E Test + Go-Live  (Week 7-8)</a:t>
            </a:r>
          </a:p>
          <a:p>
            <a:pPr>
              <a:spcAft>
                <a:spcPts val="200"/>
              </a:spcAft>
              <a:defRPr sz="700" b="0">
                <a:solidFill>
                  <a:srgbClr val="4A4A5A"/>
                </a:solidFill>
                <a:latin typeface="Calibri"/>
              </a:defRPr>
            </a:pPr>
            <a:r>
              <a:t>Full flow: Gemini &gt; Wipro &gt; SAP &gt; order confirmed. Security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